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Lst>
  <p:sldSz cx="18288000" cy="10287000"/>
  <p:notesSz cx="6858000" cy="9144000"/>
  <p:embeddedFontLst>
    <p:embeddedFont>
      <p:font typeface="Jua" panose="020B0604020202020204" charset="-127"/>
      <p:regular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81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1.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4.svg"/><Relationship Id="rId1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7.png"/><Relationship Id="rId12" Type="http://schemas.openxmlformats.org/officeDocument/2006/relationships/image" Target="../media/image13.png"/><Relationship Id="rId17" Type="http://schemas.openxmlformats.org/officeDocument/2006/relationships/image" Target="../media/image18.svg"/><Relationship Id="rId2" Type="http://schemas.openxmlformats.org/officeDocument/2006/relationships/image" Target="../media/image1.jpeg"/><Relationship Id="rId16" Type="http://schemas.openxmlformats.org/officeDocument/2006/relationships/image" Target="../media/image17.png"/><Relationship Id="rId20"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2.png"/><Relationship Id="rId5" Type="http://schemas.openxmlformats.org/officeDocument/2006/relationships/image" Target="../media/image4.png"/><Relationship Id="rId15" Type="http://schemas.openxmlformats.org/officeDocument/2006/relationships/image" Target="../media/image16.svg"/><Relationship Id="rId10" Type="http://schemas.openxmlformats.org/officeDocument/2006/relationships/image" Target="../media/image11.svg"/><Relationship Id="rId19" Type="http://schemas.openxmlformats.org/officeDocument/2006/relationships/image" Target="../media/image20.svg"/><Relationship Id="rId4" Type="http://schemas.openxmlformats.org/officeDocument/2006/relationships/image" Target="../media/image3.png"/><Relationship Id="rId9" Type="http://schemas.openxmlformats.org/officeDocument/2006/relationships/image" Target="../media/image10.png"/><Relationship Id="rId14"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4.svg"/><Relationship Id="rId1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3.png"/><Relationship Id="rId17" Type="http://schemas.openxmlformats.org/officeDocument/2006/relationships/image" Target="../media/image18.svg"/><Relationship Id="rId2" Type="http://schemas.openxmlformats.org/officeDocument/2006/relationships/image" Target="../media/image1.jpeg"/><Relationship Id="rId16"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2.png"/><Relationship Id="rId5" Type="http://schemas.openxmlformats.org/officeDocument/2006/relationships/image" Target="../media/image21.png"/><Relationship Id="rId15" Type="http://schemas.openxmlformats.org/officeDocument/2006/relationships/image" Target="../media/image16.svg"/><Relationship Id="rId10" Type="http://schemas.openxmlformats.org/officeDocument/2006/relationships/image" Target="../media/image11.svg"/><Relationship Id="rId4" Type="http://schemas.openxmlformats.org/officeDocument/2006/relationships/image" Target="../media/image3.png"/><Relationship Id="rId9" Type="http://schemas.openxmlformats.org/officeDocument/2006/relationships/image" Target="../media/image10.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4.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09" y="-4079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rot="1369466">
            <a:off x="13404577" y="-224418"/>
            <a:ext cx="3089116" cy="3076244"/>
          </a:xfrm>
          <a:custGeom>
            <a:avLst/>
            <a:gdLst/>
            <a:ahLst/>
            <a:cxnLst/>
            <a:rect l="l" t="t" r="r" b="b"/>
            <a:pathLst>
              <a:path w="3089116" h="3076244">
                <a:moveTo>
                  <a:pt x="0" y="0"/>
                </a:moveTo>
                <a:lnTo>
                  <a:pt x="3089115" y="0"/>
                </a:lnTo>
                <a:lnTo>
                  <a:pt x="3089115" y="3076244"/>
                </a:lnTo>
                <a:lnTo>
                  <a:pt x="0" y="3076244"/>
                </a:lnTo>
                <a:lnTo>
                  <a:pt x="0" y="0"/>
                </a:lnTo>
                <a:close/>
              </a:path>
            </a:pathLst>
          </a:custGeom>
          <a:blipFill>
            <a:blip r:embed="rId3"/>
            <a:stretch>
              <a:fillRect/>
            </a:stretch>
          </a:blipFill>
        </p:spPr>
      </p:sp>
      <p:sp>
        <p:nvSpPr>
          <p:cNvPr id="4" name="Freeform 4"/>
          <p:cNvSpPr/>
          <p:nvPr/>
        </p:nvSpPr>
        <p:spPr>
          <a:xfrm flipH="1">
            <a:off x="15907857" y="3888640"/>
            <a:ext cx="3206055" cy="2702437"/>
          </a:xfrm>
          <a:custGeom>
            <a:avLst/>
            <a:gdLst/>
            <a:ahLst/>
            <a:cxnLst/>
            <a:rect l="l" t="t" r="r" b="b"/>
            <a:pathLst>
              <a:path w="3206055" h="2702437">
                <a:moveTo>
                  <a:pt x="3206055" y="0"/>
                </a:moveTo>
                <a:lnTo>
                  <a:pt x="0" y="0"/>
                </a:lnTo>
                <a:lnTo>
                  <a:pt x="0" y="2702437"/>
                </a:lnTo>
                <a:lnTo>
                  <a:pt x="3206055" y="2702437"/>
                </a:lnTo>
                <a:lnTo>
                  <a:pt x="3206055" y="0"/>
                </a:lnTo>
                <a:close/>
              </a:path>
            </a:pathLst>
          </a:custGeom>
          <a:blipFill>
            <a:blip r:embed="rId4"/>
            <a:stretch>
              <a:fillRect/>
            </a:stretch>
          </a:blipFill>
        </p:spPr>
      </p:sp>
      <p:sp>
        <p:nvSpPr>
          <p:cNvPr id="5" name="Freeform 5"/>
          <p:cNvSpPr/>
          <p:nvPr/>
        </p:nvSpPr>
        <p:spPr>
          <a:xfrm rot="988365">
            <a:off x="124216" y="923685"/>
            <a:ext cx="3033168" cy="2859271"/>
          </a:xfrm>
          <a:custGeom>
            <a:avLst/>
            <a:gdLst/>
            <a:ahLst/>
            <a:cxnLst/>
            <a:rect l="l" t="t" r="r" b="b"/>
            <a:pathLst>
              <a:path w="3033168" h="2859271">
                <a:moveTo>
                  <a:pt x="0" y="0"/>
                </a:moveTo>
                <a:lnTo>
                  <a:pt x="3033167" y="0"/>
                </a:lnTo>
                <a:lnTo>
                  <a:pt x="3033167" y="2859271"/>
                </a:lnTo>
                <a:lnTo>
                  <a:pt x="0" y="2859271"/>
                </a:lnTo>
                <a:lnTo>
                  <a:pt x="0" y="0"/>
                </a:lnTo>
                <a:close/>
              </a:path>
            </a:pathLst>
          </a:custGeom>
          <a:blipFill>
            <a:blip r:embed="rId5"/>
            <a:stretch>
              <a:fillRect/>
            </a:stretch>
          </a:blipFill>
        </p:spPr>
      </p:sp>
      <p:sp>
        <p:nvSpPr>
          <p:cNvPr id="6" name="Freeform 6"/>
          <p:cNvSpPr/>
          <p:nvPr/>
        </p:nvSpPr>
        <p:spPr>
          <a:xfrm>
            <a:off x="-1321578" y="7431221"/>
            <a:ext cx="3991176" cy="3364229"/>
          </a:xfrm>
          <a:custGeom>
            <a:avLst/>
            <a:gdLst/>
            <a:ahLst/>
            <a:cxnLst/>
            <a:rect l="l" t="t" r="r" b="b"/>
            <a:pathLst>
              <a:path w="3991176" h="3364229">
                <a:moveTo>
                  <a:pt x="0" y="0"/>
                </a:moveTo>
                <a:lnTo>
                  <a:pt x="3991176" y="0"/>
                </a:lnTo>
                <a:lnTo>
                  <a:pt x="3991176" y="3364228"/>
                </a:lnTo>
                <a:lnTo>
                  <a:pt x="0" y="3364228"/>
                </a:lnTo>
                <a:lnTo>
                  <a:pt x="0" y="0"/>
                </a:lnTo>
                <a:close/>
              </a:path>
            </a:pathLst>
          </a:custGeom>
          <a:blipFill>
            <a:blip r:embed="rId4"/>
            <a:stretch>
              <a:fillRect/>
            </a:stretch>
          </a:blipFill>
        </p:spPr>
      </p:sp>
      <p:grpSp>
        <p:nvGrpSpPr>
          <p:cNvPr id="7" name="Group 7"/>
          <p:cNvGrpSpPr/>
          <p:nvPr/>
        </p:nvGrpSpPr>
        <p:grpSpPr>
          <a:xfrm>
            <a:off x="5102766" y="4109336"/>
            <a:ext cx="7484600" cy="4407309"/>
            <a:chOff x="0" y="0"/>
            <a:chExt cx="1971253" cy="1160773"/>
          </a:xfrm>
        </p:grpSpPr>
        <p:sp>
          <p:nvSpPr>
            <p:cNvPr id="8" name="Freeform 8"/>
            <p:cNvSpPr/>
            <p:nvPr/>
          </p:nvSpPr>
          <p:spPr>
            <a:xfrm>
              <a:off x="0" y="0"/>
              <a:ext cx="1971253" cy="1160773"/>
            </a:xfrm>
            <a:custGeom>
              <a:avLst/>
              <a:gdLst/>
              <a:ahLst/>
              <a:cxnLst/>
              <a:rect l="l" t="t" r="r" b="b"/>
              <a:pathLst>
                <a:path w="1971253" h="1160773">
                  <a:moveTo>
                    <a:pt x="20688" y="0"/>
                  </a:moveTo>
                  <a:lnTo>
                    <a:pt x="1950565" y="0"/>
                  </a:lnTo>
                  <a:cubicBezTo>
                    <a:pt x="1961991" y="0"/>
                    <a:pt x="1971253" y="9262"/>
                    <a:pt x="1971253" y="20688"/>
                  </a:cubicBezTo>
                  <a:lnTo>
                    <a:pt x="1971253" y="1140085"/>
                  </a:lnTo>
                  <a:cubicBezTo>
                    <a:pt x="1971253" y="1151511"/>
                    <a:pt x="1961991" y="1160773"/>
                    <a:pt x="1950565" y="1160773"/>
                  </a:cubicBezTo>
                  <a:lnTo>
                    <a:pt x="20688" y="1160773"/>
                  </a:lnTo>
                  <a:cubicBezTo>
                    <a:pt x="9262" y="1160773"/>
                    <a:pt x="0" y="1151511"/>
                    <a:pt x="0" y="1140085"/>
                  </a:cubicBezTo>
                  <a:lnTo>
                    <a:pt x="0" y="20688"/>
                  </a:lnTo>
                  <a:cubicBezTo>
                    <a:pt x="0" y="9262"/>
                    <a:pt x="9262" y="0"/>
                    <a:pt x="20688" y="0"/>
                  </a:cubicBezTo>
                  <a:close/>
                </a:path>
              </a:pathLst>
            </a:custGeom>
            <a:solidFill>
              <a:srgbClr val="FFF0E1"/>
            </a:solidFill>
            <a:ln w="19050" cap="sq">
              <a:solidFill>
                <a:srgbClr val="000000"/>
              </a:solidFill>
              <a:prstDash val="solid"/>
              <a:miter/>
            </a:ln>
          </p:spPr>
        </p:sp>
        <p:sp>
          <p:nvSpPr>
            <p:cNvPr id="9" name="TextBox 9"/>
            <p:cNvSpPr txBox="1"/>
            <p:nvPr/>
          </p:nvSpPr>
          <p:spPr>
            <a:xfrm>
              <a:off x="0" y="-76200"/>
              <a:ext cx="1971253" cy="1236973"/>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3164825" y="5503451"/>
            <a:ext cx="5486063" cy="4783549"/>
          </a:xfrm>
          <a:custGeom>
            <a:avLst/>
            <a:gdLst/>
            <a:ahLst/>
            <a:cxnLst/>
            <a:rect l="l" t="t" r="r" b="b"/>
            <a:pathLst>
              <a:path w="5486063" h="4783549">
                <a:moveTo>
                  <a:pt x="0" y="0"/>
                </a:moveTo>
                <a:lnTo>
                  <a:pt x="5486063" y="0"/>
                </a:lnTo>
                <a:lnTo>
                  <a:pt x="5486063" y="4783549"/>
                </a:lnTo>
                <a:lnTo>
                  <a:pt x="0" y="4783549"/>
                </a:lnTo>
                <a:lnTo>
                  <a:pt x="0" y="0"/>
                </a:lnTo>
                <a:close/>
              </a:path>
            </a:pathLst>
          </a:custGeom>
          <a:blipFill>
            <a:blip r:embed="rId6"/>
            <a:stretch>
              <a:fillRect/>
            </a:stretch>
          </a:blipFill>
        </p:spPr>
      </p:sp>
      <p:grpSp>
        <p:nvGrpSpPr>
          <p:cNvPr id="11" name="Group 11"/>
          <p:cNvGrpSpPr/>
          <p:nvPr/>
        </p:nvGrpSpPr>
        <p:grpSpPr>
          <a:xfrm>
            <a:off x="7531169" y="3727497"/>
            <a:ext cx="2916322" cy="468196"/>
            <a:chOff x="0" y="0"/>
            <a:chExt cx="768085" cy="123311"/>
          </a:xfrm>
        </p:grpSpPr>
        <p:sp>
          <p:nvSpPr>
            <p:cNvPr id="12" name="Freeform 12"/>
            <p:cNvSpPr/>
            <p:nvPr/>
          </p:nvSpPr>
          <p:spPr>
            <a:xfrm>
              <a:off x="0" y="0"/>
              <a:ext cx="768085" cy="123311"/>
            </a:xfrm>
            <a:custGeom>
              <a:avLst/>
              <a:gdLst/>
              <a:ahLst/>
              <a:cxnLst/>
              <a:rect l="l" t="t" r="r" b="b"/>
              <a:pathLst>
                <a:path w="768085" h="123311">
                  <a:moveTo>
                    <a:pt x="39820" y="0"/>
                  </a:moveTo>
                  <a:lnTo>
                    <a:pt x="728264" y="0"/>
                  </a:lnTo>
                  <a:cubicBezTo>
                    <a:pt x="738825" y="0"/>
                    <a:pt x="748954" y="4195"/>
                    <a:pt x="756422" y="11663"/>
                  </a:cubicBezTo>
                  <a:cubicBezTo>
                    <a:pt x="763889" y="19131"/>
                    <a:pt x="768085" y="29259"/>
                    <a:pt x="768085" y="39820"/>
                  </a:cubicBezTo>
                  <a:lnTo>
                    <a:pt x="768085" y="83491"/>
                  </a:lnTo>
                  <a:cubicBezTo>
                    <a:pt x="768085" y="94052"/>
                    <a:pt x="763889" y="104180"/>
                    <a:pt x="756422" y="111648"/>
                  </a:cubicBezTo>
                  <a:cubicBezTo>
                    <a:pt x="748954" y="119116"/>
                    <a:pt x="738825" y="123311"/>
                    <a:pt x="728264" y="123311"/>
                  </a:cubicBezTo>
                  <a:lnTo>
                    <a:pt x="39820" y="123311"/>
                  </a:lnTo>
                  <a:cubicBezTo>
                    <a:pt x="29259" y="123311"/>
                    <a:pt x="19131" y="119116"/>
                    <a:pt x="11663" y="111648"/>
                  </a:cubicBezTo>
                  <a:cubicBezTo>
                    <a:pt x="4195" y="104180"/>
                    <a:pt x="0" y="94052"/>
                    <a:pt x="0" y="83491"/>
                  </a:cubicBezTo>
                  <a:lnTo>
                    <a:pt x="0" y="39820"/>
                  </a:lnTo>
                  <a:cubicBezTo>
                    <a:pt x="0" y="29259"/>
                    <a:pt x="4195" y="19131"/>
                    <a:pt x="11663" y="11663"/>
                  </a:cubicBezTo>
                  <a:cubicBezTo>
                    <a:pt x="19131" y="4195"/>
                    <a:pt x="29259" y="0"/>
                    <a:pt x="39820" y="0"/>
                  </a:cubicBezTo>
                  <a:close/>
                </a:path>
              </a:pathLst>
            </a:custGeom>
            <a:solidFill>
              <a:srgbClr val="FFF0E1"/>
            </a:solidFill>
            <a:ln w="19050" cap="sq">
              <a:solidFill>
                <a:srgbClr val="000000"/>
              </a:solidFill>
              <a:prstDash val="solid"/>
              <a:miter/>
            </a:ln>
          </p:spPr>
        </p:sp>
        <p:sp>
          <p:nvSpPr>
            <p:cNvPr id="13" name="TextBox 13"/>
            <p:cNvSpPr txBox="1"/>
            <p:nvPr/>
          </p:nvSpPr>
          <p:spPr>
            <a:xfrm>
              <a:off x="0" y="-76200"/>
              <a:ext cx="768085" cy="199511"/>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3958780" y="7999464"/>
            <a:ext cx="1152777" cy="1113871"/>
          </a:xfrm>
          <a:custGeom>
            <a:avLst/>
            <a:gdLst/>
            <a:ahLst/>
            <a:cxnLst/>
            <a:rect l="l" t="t" r="r" b="b"/>
            <a:pathLst>
              <a:path w="1152777" h="1113871">
                <a:moveTo>
                  <a:pt x="0" y="0"/>
                </a:moveTo>
                <a:lnTo>
                  <a:pt x="1152776" y="0"/>
                </a:lnTo>
                <a:lnTo>
                  <a:pt x="1152776" y="1113871"/>
                </a:lnTo>
                <a:lnTo>
                  <a:pt x="0" y="1113871"/>
                </a:lnTo>
                <a:lnTo>
                  <a:pt x="0" y="0"/>
                </a:lnTo>
                <a:close/>
              </a:path>
            </a:pathLst>
          </a:custGeom>
          <a:blipFill>
            <a:blip r:embed="rId7"/>
            <a:stretch>
              <a:fillRect/>
            </a:stretch>
          </a:blipFill>
        </p:spPr>
      </p:sp>
      <p:sp>
        <p:nvSpPr>
          <p:cNvPr id="15" name="Freeform 15"/>
          <p:cNvSpPr/>
          <p:nvPr/>
        </p:nvSpPr>
        <p:spPr>
          <a:xfrm flipH="1">
            <a:off x="11723318" y="3254664"/>
            <a:ext cx="1152777" cy="1113871"/>
          </a:xfrm>
          <a:custGeom>
            <a:avLst/>
            <a:gdLst/>
            <a:ahLst/>
            <a:cxnLst/>
            <a:rect l="l" t="t" r="r" b="b"/>
            <a:pathLst>
              <a:path w="1152777" h="1113871">
                <a:moveTo>
                  <a:pt x="1152777" y="0"/>
                </a:moveTo>
                <a:lnTo>
                  <a:pt x="0" y="0"/>
                </a:lnTo>
                <a:lnTo>
                  <a:pt x="0" y="1113871"/>
                </a:lnTo>
                <a:lnTo>
                  <a:pt x="1152777" y="1113871"/>
                </a:lnTo>
                <a:lnTo>
                  <a:pt x="1152777" y="0"/>
                </a:lnTo>
                <a:close/>
              </a:path>
            </a:pathLst>
          </a:custGeom>
          <a:blipFill>
            <a:blip r:embed="rId7"/>
            <a:stretch>
              <a:fillRect/>
            </a:stretch>
          </a:blipFill>
        </p:spPr>
      </p:sp>
      <p:sp>
        <p:nvSpPr>
          <p:cNvPr id="16" name="Freeform 16"/>
          <p:cNvSpPr/>
          <p:nvPr/>
        </p:nvSpPr>
        <p:spPr>
          <a:xfrm>
            <a:off x="1814618" y="6703065"/>
            <a:ext cx="1037576" cy="1028065"/>
          </a:xfrm>
          <a:custGeom>
            <a:avLst/>
            <a:gdLst/>
            <a:ahLst/>
            <a:cxnLst/>
            <a:rect l="l" t="t" r="r" b="b"/>
            <a:pathLst>
              <a:path w="1037576" h="1028065">
                <a:moveTo>
                  <a:pt x="0" y="0"/>
                </a:moveTo>
                <a:lnTo>
                  <a:pt x="1037576" y="0"/>
                </a:lnTo>
                <a:lnTo>
                  <a:pt x="1037576" y="1028065"/>
                </a:lnTo>
                <a:lnTo>
                  <a:pt x="0" y="1028065"/>
                </a:lnTo>
                <a:lnTo>
                  <a:pt x="0" y="0"/>
                </a:lnTo>
                <a:close/>
              </a:path>
            </a:pathLst>
          </a:custGeom>
          <a:blipFill>
            <a:blip r:embed="rId8"/>
            <a:stretch>
              <a:fillRect/>
            </a:stretch>
          </a:blipFill>
        </p:spPr>
      </p:sp>
      <p:sp>
        <p:nvSpPr>
          <p:cNvPr id="17" name="Freeform 17"/>
          <p:cNvSpPr/>
          <p:nvPr/>
        </p:nvSpPr>
        <p:spPr>
          <a:xfrm rot="-1530144">
            <a:off x="2537524" y="3046974"/>
            <a:ext cx="885093" cy="684472"/>
          </a:xfrm>
          <a:custGeom>
            <a:avLst/>
            <a:gdLst/>
            <a:ahLst/>
            <a:cxnLst/>
            <a:rect l="l" t="t" r="r" b="b"/>
            <a:pathLst>
              <a:path w="885093" h="684472">
                <a:moveTo>
                  <a:pt x="0" y="0"/>
                </a:moveTo>
                <a:lnTo>
                  <a:pt x="885093" y="0"/>
                </a:lnTo>
                <a:lnTo>
                  <a:pt x="885093" y="684473"/>
                </a:lnTo>
                <a:lnTo>
                  <a:pt x="0" y="684473"/>
                </a:lnTo>
                <a:lnTo>
                  <a:pt x="0" y="0"/>
                </a:lnTo>
                <a:close/>
              </a:path>
            </a:pathLst>
          </a:custGeom>
          <a:blipFill>
            <a:blip r:embed="rId9"/>
            <a:stretch>
              <a:fillRect/>
            </a:stretch>
          </a:blipFill>
        </p:spPr>
      </p:sp>
      <p:sp>
        <p:nvSpPr>
          <p:cNvPr id="18" name="Freeform 18"/>
          <p:cNvSpPr/>
          <p:nvPr/>
        </p:nvSpPr>
        <p:spPr>
          <a:xfrm rot="2611191" flipH="1">
            <a:off x="14565838" y="3300549"/>
            <a:ext cx="885093" cy="684472"/>
          </a:xfrm>
          <a:custGeom>
            <a:avLst/>
            <a:gdLst/>
            <a:ahLst/>
            <a:cxnLst/>
            <a:rect l="l" t="t" r="r" b="b"/>
            <a:pathLst>
              <a:path w="885093" h="684472">
                <a:moveTo>
                  <a:pt x="885093" y="0"/>
                </a:moveTo>
                <a:lnTo>
                  <a:pt x="0" y="0"/>
                </a:lnTo>
                <a:lnTo>
                  <a:pt x="0" y="684472"/>
                </a:lnTo>
                <a:lnTo>
                  <a:pt x="885093" y="684472"/>
                </a:lnTo>
                <a:lnTo>
                  <a:pt x="885093" y="0"/>
                </a:lnTo>
                <a:close/>
              </a:path>
            </a:pathLst>
          </a:custGeom>
          <a:blipFill>
            <a:blip r:embed="rId9"/>
            <a:stretch>
              <a:fillRect/>
            </a:stretch>
          </a:blipFill>
        </p:spPr>
      </p:sp>
      <p:sp>
        <p:nvSpPr>
          <p:cNvPr id="19" name="TextBox 19"/>
          <p:cNvSpPr txBox="1"/>
          <p:nvPr/>
        </p:nvSpPr>
        <p:spPr>
          <a:xfrm>
            <a:off x="7391400" y="3845123"/>
            <a:ext cx="3218149" cy="307777"/>
          </a:xfrm>
          <a:prstGeom prst="rect">
            <a:avLst/>
          </a:prstGeom>
        </p:spPr>
        <p:txBody>
          <a:bodyPr wrap="square" lIns="0" tIns="0" rIns="0" bIns="0" rtlCol="0" anchor="t">
            <a:spAutoFit/>
          </a:bodyPr>
          <a:lstStyle/>
          <a:p>
            <a:pPr algn="ctr">
              <a:lnSpc>
                <a:spcPts val="2400"/>
              </a:lnSpc>
            </a:pPr>
            <a:r>
              <a:rPr lang="en-US" sz="2400" dirty="0">
                <a:solidFill>
                  <a:srgbClr val="000000"/>
                </a:solidFill>
                <a:latin typeface="Jua"/>
                <a:ea typeface="Jua"/>
                <a:cs typeface="Jua"/>
                <a:sym typeface="Jua"/>
              </a:rPr>
              <a:t>KELOMPOK 2</a:t>
            </a:r>
          </a:p>
        </p:txBody>
      </p:sp>
      <p:sp>
        <p:nvSpPr>
          <p:cNvPr id="20" name="TextBox 20"/>
          <p:cNvSpPr txBox="1"/>
          <p:nvPr/>
        </p:nvSpPr>
        <p:spPr>
          <a:xfrm>
            <a:off x="5361018" y="929216"/>
            <a:ext cx="6291806" cy="2564805"/>
          </a:xfrm>
          <a:prstGeom prst="rect">
            <a:avLst/>
          </a:prstGeom>
        </p:spPr>
        <p:txBody>
          <a:bodyPr wrap="square" lIns="0" tIns="0" rIns="0" bIns="0" rtlCol="0" anchor="t">
            <a:spAutoFit/>
          </a:bodyPr>
          <a:lstStyle/>
          <a:p>
            <a:pPr algn="ctr">
              <a:lnSpc>
                <a:spcPts val="9999"/>
              </a:lnSpc>
            </a:pPr>
            <a:r>
              <a:rPr lang="en-US" sz="9999" spc="699" dirty="0">
                <a:solidFill>
                  <a:srgbClr val="254C9B"/>
                </a:solidFill>
                <a:latin typeface="Jua"/>
                <a:ea typeface="Jua"/>
                <a:cs typeface="Jua"/>
                <a:sym typeface="Jua"/>
              </a:rPr>
              <a:t>GROWTH MINDSET</a:t>
            </a:r>
          </a:p>
        </p:txBody>
      </p:sp>
      <p:sp>
        <p:nvSpPr>
          <p:cNvPr id="21" name="TextBox 21"/>
          <p:cNvSpPr txBox="1"/>
          <p:nvPr/>
        </p:nvSpPr>
        <p:spPr>
          <a:xfrm>
            <a:off x="5102767" y="4559455"/>
            <a:ext cx="7484600" cy="3555845"/>
          </a:xfrm>
          <a:prstGeom prst="rect">
            <a:avLst/>
          </a:prstGeom>
        </p:spPr>
        <p:txBody>
          <a:bodyPr wrap="square" lIns="0" tIns="0" rIns="0" bIns="0" rtlCol="0" anchor="t">
            <a:spAutoFit/>
          </a:bodyPr>
          <a:lstStyle/>
          <a:p>
            <a:pPr algn="ctr">
              <a:lnSpc>
                <a:spcPts val="5711"/>
              </a:lnSpc>
            </a:pPr>
            <a:r>
              <a:rPr lang="en-US" sz="3399" spc="81" dirty="0">
                <a:solidFill>
                  <a:srgbClr val="000000"/>
                </a:solidFill>
                <a:latin typeface="Jua"/>
                <a:ea typeface="Jua"/>
                <a:cs typeface="Jua"/>
                <a:sym typeface="Jua"/>
              </a:rPr>
              <a:t>AHMAD FIKRIYANI 223725221</a:t>
            </a:r>
          </a:p>
          <a:p>
            <a:pPr algn="ctr">
              <a:lnSpc>
                <a:spcPts val="5711"/>
              </a:lnSpc>
            </a:pPr>
            <a:r>
              <a:rPr lang="en-US" sz="3399" spc="81" dirty="0">
                <a:solidFill>
                  <a:srgbClr val="000000"/>
                </a:solidFill>
                <a:latin typeface="Jua"/>
                <a:ea typeface="Jua"/>
                <a:cs typeface="Jua"/>
                <a:sym typeface="Jua"/>
              </a:rPr>
              <a:t>KELVIN ALEXANDER 2237253137</a:t>
            </a:r>
          </a:p>
          <a:p>
            <a:pPr algn="ctr">
              <a:lnSpc>
                <a:spcPts val="5711"/>
              </a:lnSpc>
            </a:pPr>
            <a:r>
              <a:rPr lang="en-US" sz="3399" spc="81" dirty="0">
                <a:solidFill>
                  <a:srgbClr val="000000"/>
                </a:solidFill>
                <a:latin typeface="Jua"/>
                <a:ea typeface="Jua"/>
                <a:cs typeface="Jua"/>
                <a:sym typeface="Jua"/>
              </a:rPr>
              <a:t>NATANIA H. 2237253176</a:t>
            </a:r>
          </a:p>
          <a:p>
            <a:pPr algn="ctr">
              <a:lnSpc>
                <a:spcPts val="5711"/>
              </a:lnSpc>
            </a:pPr>
            <a:r>
              <a:rPr lang="en-US" sz="3399" spc="81" dirty="0">
                <a:solidFill>
                  <a:srgbClr val="000000"/>
                </a:solidFill>
                <a:latin typeface="Jua"/>
                <a:ea typeface="Jua"/>
                <a:cs typeface="Jua"/>
                <a:sym typeface="Jua"/>
              </a:rPr>
              <a:t>ROSMINAH 2237253215</a:t>
            </a:r>
          </a:p>
          <a:p>
            <a:pPr algn="ctr">
              <a:lnSpc>
                <a:spcPts val="5711"/>
              </a:lnSpc>
            </a:pPr>
            <a:r>
              <a:rPr lang="en-US" sz="3399" spc="81" dirty="0">
                <a:solidFill>
                  <a:srgbClr val="000000"/>
                </a:solidFill>
                <a:latin typeface="Jua"/>
                <a:ea typeface="Jua"/>
                <a:cs typeface="Jua"/>
                <a:sym typeface="Jua"/>
              </a:rPr>
              <a:t>TITIK TRIADYATMI 2237253195</a:t>
            </a:r>
          </a:p>
        </p:txBody>
      </p:sp>
      <p:sp>
        <p:nvSpPr>
          <p:cNvPr id="22" name="Freeform 22"/>
          <p:cNvSpPr/>
          <p:nvPr/>
        </p:nvSpPr>
        <p:spPr>
          <a:xfrm rot="1369466">
            <a:off x="215668" y="6107544"/>
            <a:ext cx="1626065" cy="1619289"/>
          </a:xfrm>
          <a:custGeom>
            <a:avLst/>
            <a:gdLst/>
            <a:ahLst/>
            <a:cxnLst/>
            <a:rect l="l" t="t" r="r" b="b"/>
            <a:pathLst>
              <a:path w="1626065" h="1619289">
                <a:moveTo>
                  <a:pt x="0" y="0"/>
                </a:moveTo>
                <a:lnTo>
                  <a:pt x="1626064" y="0"/>
                </a:lnTo>
                <a:lnTo>
                  <a:pt x="1626064" y="1619289"/>
                </a:lnTo>
                <a:lnTo>
                  <a:pt x="0" y="1619289"/>
                </a:lnTo>
                <a:lnTo>
                  <a:pt x="0" y="0"/>
                </a:lnTo>
                <a:close/>
              </a:path>
            </a:pathLst>
          </a:custGeom>
          <a:blipFill>
            <a:blip r:embed="rId3"/>
            <a:stretch>
              <a:fillRect/>
            </a:stretch>
          </a:blipFill>
        </p:spPr>
      </p:sp>
      <p:sp>
        <p:nvSpPr>
          <p:cNvPr id="23" name="Freeform 23"/>
          <p:cNvSpPr/>
          <p:nvPr/>
        </p:nvSpPr>
        <p:spPr>
          <a:xfrm>
            <a:off x="0" y="40795"/>
            <a:ext cx="3311658" cy="627613"/>
          </a:xfrm>
          <a:custGeom>
            <a:avLst/>
            <a:gdLst/>
            <a:ahLst/>
            <a:cxnLst/>
            <a:rect l="l" t="t" r="r" b="b"/>
            <a:pathLst>
              <a:path w="3311658" h="627613">
                <a:moveTo>
                  <a:pt x="0" y="0"/>
                </a:moveTo>
                <a:lnTo>
                  <a:pt x="3311658" y="0"/>
                </a:lnTo>
                <a:lnTo>
                  <a:pt x="3311658" y="627612"/>
                </a:lnTo>
                <a:lnTo>
                  <a:pt x="0" y="627612"/>
                </a:lnTo>
                <a:lnTo>
                  <a:pt x="0" y="0"/>
                </a:lnTo>
                <a:close/>
              </a:path>
            </a:pathLst>
          </a:custGeom>
          <a:blipFill>
            <a:blip r:embed="rId10"/>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rot="-1503136">
            <a:off x="5927571" y="6312507"/>
            <a:ext cx="2332965" cy="2323245"/>
          </a:xfrm>
          <a:custGeom>
            <a:avLst/>
            <a:gdLst/>
            <a:ahLst/>
            <a:cxnLst/>
            <a:rect l="l" t="t" r="r" b="b"/>
            <a:pathLst>
              <a:path w="2332965" h="2323245">
                <a:moveTo>
                  <a:pt x="0" y="0"/>
                </a:moveTo>
                <a:lnTo>
                  <a:pt x="2332966" y="0"/>
                </a:lnTo>
                <a:lnTo>
                  <a:pt x="2332966" y="2323244"/>
                </a:lnTo>
                <a:lnTo>
                  <a:pt x="0" y="2323244"/>
                </a:lnTo>
                <a:lnTo>
                  <a:pt x="0" y="0"/>
                </a:lnTo>
                <a:close/>
              </a:path>
            </a:pathLst>
          </a:custGeom>
          <a:blipFill>
            <a:blip r:embed="rId3"/>
            <a:stretch>
              <a:fillRect/>
            </a:stretch>
          </a:blipFill>
        </p:spPr>
      </p:sp>
      <p:sp>
        <p:nvSpPr>
          <p:cNvPr id="4" name="Freeform 4"/>
          <p:cNvSpPr/>
          <p:nvPr/>
        </p:nvSpPr>
        <p:spPr>
          <a:xfrm flipH="1">
            <a:off x="16969520" y="7497187"/>
            <a:ext cx="3991176" cy="3364229"/>
          </a:xfrm>
          <a:custGeom>
            <a:avLst/>
            <a:gdLst/>
            <a:ahLst/>
            <a:cxnLst/>
            <a:rect l="l" t="t" r="r" b="b"/>
            <a:pathLst>
              <a:path w="3991176" h="3364229">
                <a:moveTo>
                  <a:pt x="3991175" y="0"/>
                </a:moveTo>
                <a:lnTo>
                  <a:pt x="0" y="0"/>
                </a:lnTo>
                <a:lnTo>
                  <a:pt x="0" y="3364228"/>
                </a:lnTo>
                <a:lnTo>
                  <a:pt x="3991175" y="3364228"/>
                </a:lnTo>
                <a:lnTo>
                  <a:pt x="3991175" y="0"/>
                </a:lnTo>
                <a:close/>
              </a:path>
            </a:pathLst>
          </a:custGeom>
          <a:blipFill>
            <a:blip r:embed="rId4"/>
            <a:stretch>
              <a:fillRect/>
            </a:stretch>
          </a:blipFill>
        </p:spPr>
      </p:sp>
      <p:grpSp>
        <p:nvGrpSpPr>
          <p:cNvPr id="5" name="Group 5"/>
          <p:cNvGrpSpPr/>
          <p:nvPr/>
        </p:nvGrpSpPr>
        <p:grpSpPr>
          <a:xfrm>
            <a:off x="12811931" y="4000434"/>
            <a:ext cx="4935475" cy="5675376"/>
            <a:chOff x="0" y="0"/>
            <a:chExt cx="1299878" cy="1494749"/>
          </a:xfrm>
        </p:grpSpPr>
        <p:sp>
          <p:nvSpPr>
            <p:cNvPr id="6" name="Freeform 6"/>
            <p:cNvSpPr/>
            <p:nvPr/>
          </p:nvSpPr>
          <p:spPr>
            <a:xfrm>
              <a:off x="0" y="0"/>
              <a:ext cx="1299878" cy="1494749"/>
            </a:xfrm>
            <a:custGeom>
              <a:avLst/>
              <a:gdLst/>
              <a:ahLst/>
              <a:cxnLst/>
              <a:rect l="l" t="t" r="r" b="b"/>
              <a:pathLst>
                <a:path w="1299878" h="1494749">
                  <a:moveTo>
                    <a:pt x="31373" y="0"/>
                  </a:moveTo>
                  <a:lnTo>
                    <a:pt x="1268506" y="0"/>
                  </a:lnTo>
                  <a:cubicBezTo>
                    <a:pt x="1276826" y="0"/>
                    <a:pt x="1284806" y="3305"/>
                    <a:pt x="1290689" y="9189"/>
                  </a:cubicBezTo>
                  <a:cubicBezTo>
                    <a:pt x="1296573" y="15072"/>
                    <a:pt x="1299878" y="23052"/>
                    <a:pt x="1299878" y="31373"/>
                  </a:cubicBezTo>
                  <a:lnTo>
                    <a:pt x="1299878" y="1463377"/>
                  </a:lnTo>
                  <a:cubicBezTo>
                    <a:pt x="1299878" y="1471697"/>
                    <a:pt x="1296573" y="1479677"/>
                    <a:pt x="1290689" y="1485560"/>
                  </a:cubicBezTo>
                  <a:cubicBezTo>
                    <a:pt x="1284806" y="1491444"/>
                    <a:pt x="1276826" y="1494749"/>
                    <a:pt x="1268506" y="1494749"/>
                  </a:cubicBezTo>
                  <a:lnTo>
                    <a:pt x="31373" y="1494749"/>
                  </a:lnTo>
                  <a:cubicBezTo>
                    <a:pt x="23052" y="1494749"/>
                    <a:pt x="15072" y="1491444"/>
                    <a:pt x="9189" y="1485560"/>
                  </a:cubicBezTo>
                  <a:cubicBezTo>
                    <a:pt x="3305" y="1479677"/>
                    <a:pt x="0" y="1471697"/>
                    <a:pt x="0" y="1463377"/>
                  </a:cubicBezTo>
                  <a:lnTo>
                    <a:pt x="0" y="31373"/>
                  </a:lnTo>
                  <a:cubicBezTo>
                    <a:pt x="0" y="23052"/>
                    <a:pt x="3305" y="15072"/>
                    <a:pt x="9189" y="9189"/>
                  </a:cubicBezTo>
                  <a:cubicBezTo>
                    <a:pt x="15072" y="3305"/>
                    <a:pt x="23052" y="0"/>
                    <a:pt x="31373" y="0"/>
                  </a:cubicBezTo>
                  <a:close/>
                </a:path>
              </a:pathLst>
            </a:custGeom>
            <a:solidFill>
              <a:srgbClr val="FFF0E1"/>
            </a:solidFill>
            <a:ln w="19050" cap="sq">
              <a:solidFill>
                <a:srgbClr val="000000"/>
              </a:solidFill>
              <a:prstDash val="solid"/>
              <a:miter/>
            </a:ln>
          </p:spPr>
        </p:sp>
        <p:sp>
          <p:nvSpPr>
            <p:cNvPr id="7" name="TextBox 7"/>
            <p:cNvSpPr txBox="1"/>
            <p:nvPr/>
          </p:nvSpPr>
          <p:spPr>
            <a:xfrm>
              <a:off x="0" y="-76200"/>
              <a:ext cx="1299878" cy="1570949"/>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5820854" y="852638"/>
            <a:ext cx="6759247" cy="4054152"/>
            <a:chOff x="0" y="0"/>
            <a:chExt cx="2530939" cy="1518041"/>
          </a:xfrm>
        </p:grpSpPr>
        <p:sp>
          <p:nvSpPr>
            <p:cNvPr id="9" name="Freeform 9"/>
            <p:cNvSpPr/>
            <p:nvPr/>
          </p:nvSpPr>
          <p:spPr>
            <a:xfrm>
              <a:off x="0" y="0"/>
              <a:ext cx="2530939" cy="1518041"/>
            </a:xfrm>
            <a:custGeom>
              <a:avLst/>
              <a:gdLst/>
              <a:ahLst/>
              <a:cxnLst/>
              <a:rect l="l" t="t" r="r" b="b"/>
              <a:pathLst>
                <a:path w="2530939" h="1518041">
                  <a:moveTo>
                    <a:pt x="22908" y="0"/>
                  </a:moveTo>
                  <a:lnTo>
                    <a:pt x="2508032" y="0"/>
                  </a:lnTo>
                  <a:cubicBezTo>
                    <a:pt x="2514107" y="0"/>
                    <a:pt x="2519934" y="2413"/>
                    <a:pt x="2524230" y="6709"/>
                  </a:cubicBezTo>
                  <a:cubicBezTo>
                    <a:pt x="2528526" y="11006"/>
                    <a:pt x="2530939" y="16832"/>
                    <a:pt x="2530939" y="22908"/>
                  </a:cubicBezTo>
                  <a:lnTo>
                    <a:pt x="2530939" y="1495133"/>
                  </a:lnTo>
                  <a:cubicBezTo>
                    <a:pt x="2530939" y="1501209"/>
                    <a:pt x="2528526" y="1507035"/>
                    <a:pt x="2524230" y="1511331"/>
                  </a:cubicBezTo>
                  <a:cubicBezTo>
                    <a:pt x="2519934" y="1515627"/>
                    <a:pt x="2514107" y="1518041"/>
                    <a:pt x="2508032" y="1518041"/>
                  </a:cubicBezTo>
                  <a:lnTo>
                    <a:pt x="22908" y="1518041"/>
                  </a:lnTo>
                  <a:cubicBezTo>
                    <a:pt x="10256" y="1518041"/>
                    <a:pt x="0" y="1507785"/>
                    <a:pt x="0" y="1495133"/>
                  </a:cubicBezTo>
                  <a:lnTo>
                    <a:pt x="0" y="22908"/>
                  </a:lnTo>
                  <a:cubicBezTo>
                    <a:pt x="0" y="16832"/>
                    <a:pt x="2413" y="11006"/>
                    <a:pt x="6709" y="6709"/>
                  </a:cubicBezTo>
                  <a:cubicBezTo>
                    <a:pt x="11006" y="2413"/>
                    <a:pt x="16832" y="0"/>
                    <a:pt x="22908" y="0"/>
                  </a:cubicBezTo>
                  <a:close/>
                </a:path>
              </a:pathLst>
            </a:custGeom>
            <a:solidFill>
              <a:srgbClr val="FFF0E1"/>
            </a:solidFill>
            <a:ln w="19050" cap="sq">
              <a:solidFill>
                <a:srgbClr val="000000"/>
              </a:solidFill>
              <a:prstDash val="solid"/>
              <a:miter/>
            </a:ln>
          </p:spPr>
        </p:sp>
        <p:sp>
          <p:nvSpPr>
            <p:cNvPr id="10" name="TextBox 10"/>
            <p:cNvSpPr txBox="1"/>
            <p:nvPr/>
          </p:nvSpPr>
          <p:spPr>
            <a:xfrm>
              <a:off x="0" y="-76200"/>
              <a:ext cx="2530939" cy="1594241"/>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649166" y="9446527"/>
            <a:ext cx="2330904" cy="2197269"/>
          </a:xfrm>
          <a:custGeom>
            <a:avLst/>
            <a:gdLst/>
            <a:ahLst/>
            <a:cxnLst/>
            <a:rect l="l" t="t" r="r" b="b"/>
            <a:pathLst>
              <a:path w="2330904" h="2197269">
                <a:moveTo>
                  <a:pt x="0" y="0"/>
                </a:moveTo>
                <a:lnTo>
                  <a:pt x="2330904" y="0"/>
                </a:lnTo>
                <a:lnTo>
                  <a:pt x="2330904" y="2197269"/>
                </a:lnTo>
                <a:lnTo>
                  <a:pt x="0" y="2197269"/>
                </a:lnTo>
                <a:lnTo>
                  <a:pt x="0" y="0"/>
                </a:lnTo>
                <a:close/>
              </a:path>
            </a:pathLst>
          </a:custGeom>
          <a:blipFill>
            <a:blip r:embed="rId5"/>
            <a:stretch>
              <a:fillRect/>
            </a:stretch>
          </a:blipFill>
        </p:spPr>
      </p:sp>
      <p:sp>
        <p:nvSpPr>
          <p:cNvPr id="12" name="Freeform 12"/>
          <p:cNvSpPr/>
          <p:nvPr/>
        </p:nvSpPr>
        <p:spPr>
          <a:xfrm>
            <a:off x="-2672695" y="7497187"/>
            <a:ext cx="3991176" cy="3364229"/>
          </a:xfrm>
          <a:custGeom>
            <a:avLst/>
            <a:gdLst/>
            <a:ahLst/>
            <a:cxnLst/>
            <a:rect l="l" t="t" r="r" b="b"/>
            <a:pathLst>
              <a:path w="3991176" h="3364229">
                <a:moveTo>
                  <a:pt x="0" y="0"/>
                </a:moveTo>
                <a:lnTo>
                  <a:pt x="3991175" y="0"/>
                </a:lnTo>
                <a:lnTo>
                  <a:pt x="3991175" y="3364228"/>
                </a:lnTo>
                <a:lnTo>
                  <a:pt x="0" y="3364228"/>
                </a:lnTo>
                <a:lnTo>
                  <a:pt x="0" y="0"/>
                </a:lnTo>
                <a:close/>
              </a:path>
            </a:pathLst>
          </a:custGeom>
          <a:blipFill>
            <a:blip r:embed="rId4"/>
            <a:stretch>
              <a:fillRect/>
            </a:stretch>
          </a:blipFill>
        </p:spPr>
      </p:sp>
      <p:grpSp>
        <p:nvGrpSpPr>
          <p:cNvPr id="13" name="Group 13"/>
          <p:cNvGrpSpPr/>
          <p:nvPr/>
        </p:nvGrpSpPr>
        <p:grpSpPr>
          <a:xfrm>
            <a:off x="122861" y="4366788"/>
            <a:ext cx="5353208" cy="5309022"/>
            <a:chOff x="0" y="0"/>
            <a:chExt cx="1409898" cy="1398261"/>
          </a:xfrm>
        </p:grpSpPr>
        <p:sp>
          <p:nvSpPr>
            <p:cNvPr id="14" name="Freeform 14"/>
            <p:cNvSpPr/>
            <p:nvPr/>
          </p:nvSpPr>
          <p:spPr>
            <a:xfrm>
              <a:off x="0" y="0"/>
              <a:ext cx="1409899" cy="1398261"/>
            </a:xfrm>
            <a:custGeom>
              <a:avLst/>
              <a:gdLst/>
              <a:ahLst/>
              <a:cxnLst/>
              <a:rect l="l" t="t" r="r" b="b"/>
              <a:pathLst>
                <a:path w="1409899" h="1398261">
                  <a:moveTo>
                    <a:pt x="28924" y="0"/>
                  </a:moveTo>
                  <a:lnTo>
                    <a:pt x="1380974" y="0"/>
                  </a:lnTo>
                  <a:cubicBezTo>
                    <a:pt x="1396949" y="0"/>
                    <a:pt x="1409899" y="12950"/>
                    <a:pt x="1409899" y="28924"/>
                  </a:cubicBezTo>
                  <a:lnTo>
                    <a:pt x="1409899" y="1369336"/>
                  </a:lnTo>
                  <a:cubicBezTo>
                    <a:pt x="1409899" y="1385311"/>
                    <a:pt x="1396949" y="1398261"/>
                    <a:pt x="1380974" y="1398261"/>
                  </a:cubicBezTo>
                  <a:lnTo>
                    <a:pt x="28924" y="1398261"/>
                  </a:lnTo>
                  <a:cubicBezTo>
                    <a:pt x="12950" y="1398261"/>
                    <a:pt x="0" y="1385311"/>
                    <a:pt x="0" y="1369336"/>
                  </a:cubicBezTo>
                  <a:lnTo>
                    <a:pt x="0" y="28924"/>
                  </a:lnTo>
                  <a:cubicBezTo>
                    <a:pt x="0" y="12950"/>
                    <a:pt x="12950" y="0"/>
                    <a:pt x="28924" y="0"/>
                  </a:cubicBezTo>
                  <a:close/>
                </a:path>
              </a:pathLst>
            </a:custGeom>
            <a:solidFill>
              <a:srgbClr val="FFF0E1"/>
            </a:solidFill>
            <a:ln w="19050" cap="sq">
              <a:solidFill>
                <a:srgbClr val="000000"/>
              </a:solidFill>
              <a:prstDash val="solid"/>
              <a:miter/>
            </a:ln>
          </p:spPr>
        </p:sp>
        <p:sp>
          <p:nvSpPr>
            <p:cNvPr id="15" name="TextBox 15"/>
            <p:cNvSpPr txBox="1"/>
            <p:nvPr/>
          </p:nvSpPr>
          <p:spPr>
            <a:xfrm>
              <a:off x="0" y="-76200"/>
              <a:ext cx="1409898" cy="1474461"/>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p:cNvSpPr/>
          <p:nvPr/>
        </p:nvSpPr>
        <p:spPr>
          <a:xfrm>
            <a:off x="16594629" y="3046974"/>
            <a:ext cx="1152777" cy="1113871"/>
          </a:xfrm>
          <a:custGeom>
            <a:avLst/>
            <a:gdLst/>
            <a:ahLst/>
            <a:cxnLst/>
            <a:rect l="l" t="t" r="r" b="b"/>
            <a:pathLst>
              <a:path w="1152777" h="1113871">
                <a:moveTo>
                  <a:pt x="0" y="0"/>
                </a:moveTo>
                <a:lnTo>
                  <a:pt x="1152777" y="0"/>
                </a:lnTo>
                <a:lnTo>
                  <a:pt x="1152777" y="1113871"/>
                </a:lnTo>
                <a:lnTo>
                  <a:pt x="0" y="1113871"/>
                </a:lnTo>
                <a:lnTo>
                  <a:pt x="0" y="0"/>
                </a:lnTo>
                <a:close/>
              </a:path>
            </a:pathLst>
          </a:custGeom>
          <a:blipFill>
            <a:blip r:embed="rId6"/>
            <a:stretch>
              <a:fillRect/>
            </a:stretch>
          </a:blipFill>
        </p:spPr>
      </p:sp>
      <p:sp>
        <p:nvSpPr>
          <p:cNvPr id="17" name="Freeform 17"/>
          <p:cNvSpPr/>
          <p:nvPr/>
        </p:nvSpPr>
        <p:spPr>
          <a:xfrm flipH="1">
            <a:off x="4742334" y="3650735"/>
            <a:ext cx="1152777" cy="1113871"/>
          </a:xfrm>
          <a:custGeom>
            <a:avLst/>
            <a:gdLst/>
            <a:ahLst/>
            <a:cxnLst/>
            <a:rect l="l" t="t" r="r" b="b"/>
            <a:pathLst>
              <a:path w="1152777" h="1113871">
                <a:moveTo>
                  <a:pt x="1152777" y="0"/>
                </a:moveTo>
                <a:lnTo>
                  <a:pt x="0" y="0"/>
                </a:lnTo>
                <a:lnTo>
                  <a:pt x="0" y="1113870"/>
                </a:lnTo>
                <a:lnTo>
                  <a:pt x="1152777" y="1113870"/>
                </a:lnTo>
                <a:lnTo>
                  <a:pt x="1152777" y="0"/>
                </a:lnTo>
                <a:close/>
              </a:path>
            </a:pathLst>
          </a:custGeom>
          <a:blipFill>
            <a:blip r:embed="rId6"/>
            <a:stretch>
              <a:fillRect/>
            </a:stretch>
          </a:blipFill>
        </p:spPr>
      </p:sp>
      <p:sp>
        <p:nvSpPr>
          <p:cNvPr id="18" name="Freeform 18"/>
          <p:cNvSpPr/>
          <p:nvPr/>
        </p:nvSpPr>
        <p:spPr>
          <a:xfrm>
            <a:off x="12658728" y="1634271"/>
            <a:ext cx="1037576" cy="1028065"/>
          </a:xfrm>
          <a:custGeom>
            <a:avLst/>
            <a:gdLst/>
            <a:ahLst/>
            <a:cxnLst/>
            <a:rect l="l" t="t" r="r" b="b"/>
            <a:pathLst>
              <a:path w="1037576" h="1028065">
                <a:moveTo>
                  <a:pt x="0" y="0"/>
                </a:moveTo>
                <a:lnTo>
                  <a:pt x="1037576" y="0"/>
                </a:lnTo>
                <a:lnTo>
                  <a:pt x="1037576" y="1028064"/>
                </a:lnTo>
                <a:lnTo>
                  <a:pt x="0" y="1028064"/>
                </a:lnTo>
                <a:lnTo>
                  <a:pt x="0" y="0"/>
                </a:lnTo>
                <a:close/>
              </a:path>
            </a:pathLst>
          </a:custGeom>
          <a:blipFill>
            <a:blip r:embed="rId7"/>
            <a:stretch>
              <a:fillRect/>
            </a:stretch>
          </a:blipFill>
        </p:spPr>
      </p:sp>
      <p:sp>
        <p:nvSpPr>
          <p:cNvPr id="19" name="Freeform 19"/>
          <p:cNvSpPr/>
          <p:nvPr/>
        </p:nvSpPr>
        <p:spPr>
          <a:xfrm>
            <a:off x="10642898" y="7154951"/>
            <a:ext cx="885093" cy="684472"/>
          </a:xfrm>
          <a:custGeom>
            <a:avLst/>
            <a:gdLst/>
            <a:ahLst/>
            <a:cxnLst/>
            <a:rect l="l" t="t" r="r" b="b"/>
            <a:pathLst>
              <a:path w="885093" h="684472">
                <a:moveTo>
                  <a:pt x="0" y="0"/>
                </a:moveTo>
                <a:lnTo>
                  <a:pt x="885093" y="0"/>
                </a:lnTo>
                <a:lnTo>
                  <a:pt x="885093" y="684472"/>
                </a:lnTo>
                <a:lnTo>
                  <a:pt x="0" y="684472"/>
                </a:lnTo>
                <a:lnTo>
                  <a:pt x="0" y="0"/>
                </a:lnTo>
                <a:close/>
              </a:path>
            </a:pathLst>
          </a:custGeom>
          <a:blipFill>
            <a:blip r:embed="rId8"/>
            <a:stretch>
              <a:fillRect/>
            </a:stretch>
          </a:blipFill>
        </p:spPr>
      </p:sp>
      <p:sp>
        <p:nvSpPr>
          <p:cNvPr id="20" name="Freeform 20"/>
          <p:cNvSpPr/>
          <p:nvPr/>
        </p:nvSpPr>
        <p:spPr>
          <a:xfrm flipH="1">
            <a:off x="12137554" y="1113122"/>
            <a:ext cx="885093" cy="684472"/>
          </a:xfrm>
          <a:custGeom>
            <a:avLst/>
            <a:gdLst/>
            <a:ahLst/>
            <a:cxnLst/>
            <a:rect l="l" t="t" r="r" b="b"/>
            <a:pathLst>
              <a:path w="885093" h="684472">
                <a:moveTo>
                  <a:pt x="885094" y="0"/>
                </a:moveTo>
                <a:lnTo>
                  <a:pt x="0" y="0"/>
                </a:lnTo>
                <a:lnTo>
                  <a:pt x="0" y="684472"/>
                </a:lnTo>
                <a:lnTo>
                  <a:pt x="885094" y="684472"/>
                </a:lnTo>
                <a:lnTo>
                  <a:pt x="885094" y="0"/>
                </a:lnTo>
                <a:close/>
              </a:path>
            </a:pathLst>
          </a:custGeom>
          <a:blipFill>
            <a:blip r:embed="rId8"/>
            <a:stretch>
              <a:fillRect/>
            </a:stretch>
          </a:blipFill>
        </p:spPr>
      </p:sp>
      <p:sp>
        <p:nvSpPr>
          <p:cNvPr id="21" name="Freeform 21"/>
          <p:cNvSpPr/>
          <p:nvPr/>
        </p:nvSpPr>
        <p:spPr>
          <a:xfrm rot="5482446">
            <a:off x="4252089" y="2667083"/>
            <a:ext cx="885093" cy="684472"/>
          </a:xfrm>
          <a:custGeom>
            <a:avLst/>
            <a:gdLst/>
            <a:ahLst/>
            <a:cxnLst/>
            <a:rect l="l" t="t" r="r" b="b"/>
            <a:pathLst>
              <a:path w="885093" h="684472">
                <a:moveTo>
                  <a:pt x="0" y="0"/>
                </a:moveTo>
                <a:lnTo>
                  <a:pt x="885094" y="0"/>
                </a:lnTo>
                <a:lnTo>
                  <a:pt x="885094" y="684472"/>
                </a:lnTo>
                <a:lnTo>
                  <a:pt x="0" y="684472"/>
                </a:lnTo>
                <a:lnTo>
                  <a:pt x="0" y="0"/>
                </a:lnTo>
                <a:close/>
              </a:path>
            </a:pathLst>
          </a:custGeom>
          <a:blipFill>
            <a:blip r:embed="rId8"/>
            <a:stretch>
              <a:fillRect/>
            </a:stretch>
          </a:blipFill>
        </p:spPr>
      </p:sp>
      <p:sp>
        <p:nvSpPr>
          <p:cNvPr id="22" name="Freeform 22"/>
          <p:cNvSpPr/>
          <p:nvPr/>
        </p:nvSpPr>
        <p:spPr>
          <a:xfrm flipH="1">
            <a:off x="15260305" y="9446527"/>
            <a:ext cx="2330904" cy="2197269"/>
          </a:xfrm>
          <a:custGeom>
            <a:avLst/>
            <a:gdLst/>
            <a:ahLst/>
            <a:cxnLst/>
            <a:rect l="l" t="t" r="r" b="b"/>
            <a:pathLst>
              <a:path w="2330904" h="2197269">
                <a:moveTo>
                  <a:pt x="2330904" y="0"/>
                </a:moveTo>
                <a:lnTo>
                  <a:pt x="0" y="0"/>
                </a:lnTo>
                <a:lnTo>
                  <a:pt x="0" y="2197269"/>
                </a:lnTo>
                <a:lnTo>
                  <a:pt x="2330904" y="2197269"/>
                </a:lnTo>
                <a:lnTo>
                  <a:pt x="2330904" y="0"/>
                </a:lnTo>
                <a:close/>
              </a:path>
            </a:pathLst>
          </a:custGeom>
          <a:blipFill>
            <a:blip r:embed="rId5"/>
            <a:stretch>
              <a:fillRect/>
            </a:stretch>
          </a:blipFill>
        </p:spPr>
      </p:sp>
      <p:sp>
        <p:nvSpPr>
          <p:cNvPr id="23" name="TextBox 23"/>
          <p:cNvSpPr txBox="1"/>
          <p:nvPr/>
        </p:nvSpPr>
        <p:spPr>
          <a:xfrm>
            <a:off x="13186119" y="5157898"/>
            <a:ext cx="4405089" cy="3874266"/>
          </a:xfrm>
          <a:prstGeom prst="rect">
            <a:avLst/>
          </a:prstGeom>
        </p:spPr>
        <p:txBody>
          <a:bodyPr wrap="square" lIns="0" tIns="0" rIns="0" bIns="0" rtlCol="0" anchor="t">
            <a:spAutoFit/>
          </a:bodyPr>
          <a:lstStyle/>
          <a:p>
            <a:pPr algn="l">
              <a:lnSpc>
                <a:spcPts val="3359"/>
              </a:lnSpc>
            </a:pPr>
            <a:r>
              <a:rPr lang="en-US" sz="2400" dirty="0">
                <a:solidFill>
                  <a:srgbClr val="000000"/>
                </a:solidFill>
                <a:latin typeface="Jua"/>
                <a:ea typeface="Jua"/>
                <a:cs typeface="Jua"/>
                <a:sym typeface="Jua"/>
              </a:rPr>
              <a:t>Hal yang </a:t>
            </a:r>
            <a:r>
              <a:rPr lang="en-US" sz="2400" dirty="0" err="1">
                <a:solidFill>
                  <a:srgbClr val="000000"/>
                </a:solidFill>
                <a:latin typeface="Jua"/>
                <a:ea typeface="Jua"/>
                <a:cs typeface="Jua"/>
                <a:sym typeface="Jua"/>
              </a:rPr>
              <a:t>membuat</a:t>
            </a:r>
            <a:r>
              <a:rPr lang="en-US" sz="2400" dirty="0">
                <a:solidFill>
                  <a:srgbClr val="000000"/>
                </a:solidFill>
                <a:latin typeface="Jua"/>
                <a:ea typeface="Jua"/>
                <a:cs typeface="Jua"/>
                <a:sym typeface="Jua"/>
              </a:rPr>
              <a:t> Dian </a:t>
            </a:r>
            <a:r>
              <a:rPr lang="en-US" sz="2400" dirty="0" err="1">
                <a:solidFill>
                  <a:srgbClr val="000000"/>
                </a:solidFill>
                <a:latin typeface="Jua"/>
                <a:ea typeface="Jua"/>
                <a:cs typeface="Jua"/>
                <a:sym typeface="Jua"/>
              </a:rPr>
              <a:t>memiliki</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pola</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pikir</a:t>
            </a:r>
            <a:r>
              <a:rPr lang="en-US" sz="2400" dirty="0">
                <a:solidFill>
                  <a:srgbClr val="000000"/>
                </a:solidFill>
                <a:latin typeface="Jua"/>
                <a:ea typeface="Jua"/>
                <a:cs typeface="Jua"/>
                <a:sym typeface="Jua"/>
              </a:rPr>
              <a:t> fixed mindset : </a:t>
            </a:r>
          </a:p>
          <a:p>
            <a:pPr marL="342900" indent="-342900" algn="l">
              <a:lnSpc>
                <a:spcPts val="3359"/>
              </a:lnSpc>
              <a:buFontTx/>
              <a:buChar char="-"/>
            </a:pPr>
            <a:r>
              <a:rPr lang="en-US" sz="2400" dirty="0" err="1">
                <a:solidFill>
                  <a:srgbClr val="000000"/>
                </a:solidFill>
                <a:latin typeface="Jua"/>
                <a:ea typeface="Jua"/>
                <a:cs typeface="Jua"/>
                <a:sym typeface="Jua"/>
              </a:rPr>
              <a:t>tekanan</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karena</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adanya</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julukan</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si</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pintar</a:t>
            </a:r>
            <a:r>
              <a:rPr lang="en-US" sz="2400" dirty="0">
                <a:solidFill>
                  <a:srgbClr val="000000"/>
                </a:solidFill>
                <a:latin typeface="Jua"/>
                <a:ea typeface="Jua"/>
                <a:cs typeface="Jua"/>
                <a:sym typeface="Jua"/>
              </a:rPr>
              <a:t>” </a:t>
            </a:r>
          </a:p>
          <a:p>
            <a:pPr marL="342900" indent="-342900" algn="l">
              <a:lnSpc>
                <a:spcPts val="3359"/>
              </a:lnSpc>
              <a:buFontTx/>
              <a:buChar char="-"/>
            </a:pPr>
            <a:r>
              <a:rPr lang="en-US" sz="2400" dirty="0" err="1">
                <a:solidFill>
                  <a:srgbClr val="000000"/>
                </a:solidFill>
                <a:latin typeface="Jua"/>
                <a:ea typeface="Jua"/>
                <a:cs typeface="Jua"/>
                <a:sym typeface="Jua"/>
              </a:rPr>
              <a:t>pemikiran</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untuk</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selalu</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membanggakan</a:t>
            </a:r>
            <a:r>
              <a:rPr lang="en-US" sz="2400" dirty="0">
                <a:solidFill>
                  <a:srgbClr val="000000"/>
                </a:solidFill>
                <a:latin typeface="Jua"/>
                <a:ea typeface="Jua"/>
                <a:cs typeface="Jua"/>
                <a:sym typeface="Jua"/>
              </a:rPr>
              <a:t> dan </a:t>
            </a:r>
            <a:r>
              <a:rPr lang="en-US" sz="2400" dirty="0" err="1">
                <a:solidFill>
                  <a:srgbClr val="000000"/>
                </a:solidFill>
                <a:latin typeface="Jua"/>
                <a:ea typeface="Jua"/>
                <a:cs typeface="Jua"/>
                <a:sym typeface="Jua"/>
              </a:rPr>
              <a:t>terus</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berprestasi</a:t>
            </a:r>
            <a:r>
              <a:rPr lang="en-US" sz="2400" dirty="0">
                <a:solidFill>
                  <a:srgbClr val="000000"/>
                </a:solidFill>
                <a:latin typeface="Jua"/>
                <a:ea typeface="Jua"/>
                <a:cs typeface="Jua"/>
                <a:sym typeface="Jua"/>
              </a:rPr>
              <a:t>.</a:t>
            </a:r>
          </a:p>
          <a:p>
            <a:pPr marL="342900" indent="-342900" algn="l">
              <a:lnSpc>
                <a:spcPts val="3359"/>
              </a:lnSpc>
              <a:buFontTx/>
              <a:buChar char="-"/>
            </a:pPr>
            <a:r>
              <a:rPr lang="en-US" sz="2400" dirty="0" err="1">
                <a:solidFill>
                  <a:srgbClr val="000000"/>
                </a:solidFill>
                <a:latin typeface="Jua"/>
                <a:ea typeface="Jua"/>
                <a:cs typeface="Jua"/>
                <a:sym typeface="Jua"/>
              </a:rPr>
              <a:t>menghindari</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kesalahan</a:t>
            </a:r>
            <a:r>
              <a:rPr lang="en-US" sz="2400" dirty="0">
                <a:solidFill>
                  <a:srgbClr val="000000"/>
                </a:solidFill>
                <a:latin typeface="Jua"/>
                <a:ea typeface="Jua"/>
                <a:cs typeface="Jua"/>
                <a:sym typeface="Jua"/>
              </a:rPr>
              <a:t> </a:t>
            </a:r>
          </a:p>
        </p:txBody>
      </p:sp>
      <p:sp>
        <p:nvSpPr>
          <p:cNvPr id="24" name="Freeform 24"/>
          <p:cNvSpPr/>
          <p:nvPr/>
        </p:nvSpPr>
        <p:spPr>
          <a:xfrm rot="4065453">
            <a:off x="8410676" y="4578788"/>
            <a:ext cx="1804658" cy="1838077"/>
          </a:xfrm>
          <a:custGeom>
            <a:avLst/>
            <a:gdLst/>
            <a:ahLst/>
            <a:cxnLst/>
            <a:rect l="l" t="t" r="r" b="b"/>
            <a:pathLst>
              <a:path w="1804658" h="1838077">
                <a:moveTo>
                  <a:pt x="0" y="0"/>
                </a:moveTo>
                <a:lnTo>
                  <a:pt x="1804658" y="0"/>
                </a:lnTo>
                <a:lnTo>
                  <a:pt x="1804658" y="1838077"/>
                </a:lnTo>
                <a:lnTo>
                  <a:pt x="0" y="18380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5" name="TextBox 25"/>
          <p:cNvSpPr txBox="1"/>
          <p:nvPr/>
        </p:nvSpPr>
        <p:spPr>
          <a:xfrm rot="75719">
            <a:off x="5509154" y="4997592"/>
            <a:ext cx="7801794" cy="2270070"/>
          </a:xfrm>
          <a:prstGeom prst="rect">
            <a:avLst/>
          </a:prstGeom>
        </p:spPr>
        <p:txBody>
          <a:bodyPr lIns="0" tIns="0" rIns="0" bIns="0" rtlCol="0" anchor="t">
            <a:spAutoFit/>
          </a:bodyPr>
          <a:lstStyle/>
          <a:p>
            <a:pPr algn="ctr">
              <a:lnSpc>
                <a:spcPts val="9000"/>
              </a:lnSpc>
            </a:pPr>
            <a:r>
              <a:rPr lang="en-US" sz="9000" spc="630" dirty="0">
                <a:solidFill>
                  <a:srgbClr val="254C9B"/>
                </a:solidFill>
                <a:latin typeface="Jua"/>
                <a:ea typeface="Jua"/>
                <a:cs typeface="Jua"/>
                <a:sym typeface="Jua"/>
              </a:rPr>
              <a:t>KASUS DIAN</a:t>
            </a:r>
          </a:p>
          <a:p>
            <a:pPr algn="ctr">
              <a:lnSpc>
                <a:spcPts val="9000"/>
              </a:lnSpc>
            </a:pPr>
            <a:endParaRPr lang="en-US" sz="9000" spc="630" dirty="0">
              <a:solidFill>
                <a:srgbClr val="254C9B"/>
              </a:solidFill>
              <a:latin typeface="Jua"/>
              <a:ea typeface="Jua"/>
              <a:cs typeface="Jua"/>
              <a:sym typeface="Jua"/>
            </a:endParaRPr>
          </a:p>
        </p:txBody>
      </p:sp>
      <p:sp>
        <p:nvSpPr>
          <p:cNvPr id="26" name="Freeform 26"/>
          <p:cNvSpPr/>
          <p:nvPr/>
        </p:nvSpPr>
        <p:spPr>
          <a:xfrm>
            <a:off x="7328843" y="6607736"/>
            <a:ext cx="3845033" cy="3747242"/>
          </a:xfrm>
          <a:custGeom>
            <a:avLst/>
            <a:gdLst/>
            <a:ahLst/>
            <a:cxnLst/>
            <a:rect l="l" t="t" r="r" b="b"/>
            <a:pathLst>
              <a:path w="3990557" h="3990557">
                <a:moveTo>
                  <a:pt x="0" y="0"/>
                </a:moveTo>
                <a:lnTo>
                  <a:pt x="3990557" y="0"/>
                </a:lnTo>
                <a:lnTo>
                  <a:pt x="3990557" y="3990557"/>
                </a:lnTo>
                <a:lnTo>
                  <a:pt x="0" y="3990557"/>
                </a:lnTo>
                <a:lnTo>
                  <a:pt x="0" y="0"/>
                </a:lnTo>
                <a:close/>
              </a:path>
            </a:pathLst>
          </a:custGeom>
          <a:blipFill>
            <a:blip r:embed="rId11"/>
            <a:stretch>
              <a:fillRect/>
            </a:stretch>
          </a:blipFill>
        </p:spPr>
      </p:sp>
      <p:sp>
        <p:nvSpPr>
          <p:cNvPr id="27" name="Freeform 27"/>
          <p:cNvSpPr/>
          <p:nvPr/>
        </p:nvSpPr>
        <p:spPr>
          <a:xfrm rot="-786967">
            <a:off x="5379163" y="7771774"/>
            <a:ext cx="2347583" cy="2391057"/>
          </a:xfrm>
          <a:custGeom>
            <a:avLst/>
            <a:gdLst/>
            <a:ahLst/>
            <a:cxnLst/>
            <a:rect l="l" t="t" r="r" b="b"/>
            <a:pathLst>
              <a:path w="2347583" h="2391057">
                <a:moveTo>
                  <a:pt x="0" y="0"/>
                </a:moveTo>
                <a:lnTo>
                  <a:pt x="2347584" y="0"/>
                </a:lnTo>
                <a:lnTo>
                  <a:pt x="2347584" y="2391057"/>
                </a:lnTo>
                <a:lnTo>
                  <a:pt x="0" y="239105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8" name="TextBox 28"/>
          <p:cNvSpPr txBox="1"/>
          <p:nvPr/>
        </p:nvSpPr>
        <p:spPr>
          <a:xfrm>
            <a:off x="5889953" y="1181100"/>
            <a:ext cx="6759247" cy="3532698"/>
          </a:xfrm>
          <a:prstGeom prst="rect">
            <a:avLst/>
          </a:prstGeom>
        </p:spPr>
        <p:txBody>
          <a:bodyPr wrap="square" lIns="0" tIns="0" rIns="0" bIns="0" rtlCol="0" anchor="t">
            <a:spAutoFit/>
          </a:bodyPr>
          <a:lstStyle/>
          <a:p>
            <a:pPr marL="342900" indent="-342900" algn="l">
              <a:lnSpc>
                <a:spcPts val="3079"/>
              </a:lnSpc>
              <a:buFontTx/>
              <a:buChar char="-"/>
            </a:pPr>
            <a:r>
              <a:rPr lang="en-US" sz="2199" dirty="0" err="1">
                <a:solidFill>
                  <a:srgbClr val="000000"/>
                </a:solidFill>
                <a:latin typeface="Jua"/>
                <a:ea typeface="Jua"/>
                <a:cs typeface="Jua"/>
                <a:sym typeface="Jua"/>
              </a:rPr>
              <a:t>kurangnya</a:t>
            </a:r>
            <a:r>
              <a:rPr lang="en-US" sz="2199" dirty="0">
                <a:solidFill>
                  <a:srgbClr val="000000"/>
                </a:solidFill>
                <a:latin typeface="Jua"/>
                <a:ea typeface="Jua"/>
                <a:cs typeface="Jua"/>
                <a:sym typeface="Jua"/>
              </a:rPr>
              <a:t> rasa </a:t>
            </a:r>
            <a:r>
              <a:rPr lang="en-US" sz="2199" dirty="0" err="1">
                <a:solidFill>
                  <a:srgbClr val="000000"/>
                </a:solidFill>
                <a:latin typeface="Jua"/>
                <a:ea typeface="Jua"/>
                <a:cs typeface="Jua"/>
                <a:sym typeface="Jua"/>
              </a:rPr>
              <a:t>percaya</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diri</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akan</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kemampuan</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diri</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sendiri</a:t>
            </a:r>
            <a:r>
              <a:rPr lang="en-US" sz="2199" dirty="0">
                <a:solidFill>
                  <a:srgbClr val="000000"/>
                </a:solidFill>
                <a:latin typeface="Jua"/>
                <a:ea typeface="Jua"/>
                <a:cs typeface="Jua"/>
                <a:sym typeface="Jua"/>
              </a:rPr>
              <a:t>, </a:t>
            </a:r>
          </a:p>
          <a:p>
            <a:pPr marL="342900" indent="-342900" algn="l">
              <a:lnSpc>
                <a:spcPts val="3079"/>
              </a:lnSpc>
              <a:buFontTx/>
              <a:buChar char="-"/>
            </a:pPr>
            <a:r>
              <a:rPr lang="en-US" sz="2199" dirty="0" err="1">
                <a:solidFill>
                  <a:srgbClr val="000000"/>
                </a:solidFill>
                <a:latin typeface="Jua"/>
                <a:ea typeface="Jua"/>
                <a:cs typeface="Jua"/>
                <a:sym typeface="Jua"/>
              </a:rPr>
              <a:t>takut</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untuk</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mencoba</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hal</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baru</a:t>
            </a:r>
            <a:r>
              <a:rPr lang="en-US" sz="2199" dirty="0">
                <a:solidFill>
                  <a:srgbClr val="000000"/>
                </a:solidFill>
                <a:latin typeface="Jua"/>
                <a:ea typeface="Jua"/>
                <a:cs typeface="Jua"/>
                <a:sym typeface="Jua"/>
              </a:rPr>
              <a:t>, dan </a:t>
            </a:r>
            <a:r>
              <a:rPr lang="en-US" sz="2199" dirty="0" err="1">
                <a:solidFill>
                  <a:srgbClr val="000000"/>
                </a:solidFill>
                <a:latin typeface="Jua"/>
                <a:ea typeface="Jua"/>
                <a:cs typeface="Jua"/>
                <a:sym typeface="Jua"/>
              </a:rPr>
              <a:t>selalu</a:t>
            </a:r>
            <a:r>
              <a:rPr lang="en-US" sz="2199" dirty="0">
                <a:solidFill>
                  <a:srgbClr val="000000"/>
                </a:solidFill>
                <a:latin typeface="Jua"/>
                <a:ea typeface="Jua"/>
                <a:cs typeface="Jua"/>
                <a:sym typeface="Jua"/>
              </a:rPr>
              <a:t> di zona </a:t>
            </a:r>
            <a:r>
              <a:rPr lang="en-US" sz="2199" dirty="0" err="1">
                <a:solidFill>
                  <a:srgbClr val="000000"/>
                </a:solidFill>
                <a:latin typeface="Jua"/>
                <a:ea typeface="Jua"/>
                <a:cs typeface="Jua"/>
                <a:sym typeface="Jua"/>
              </a:rPr>
              <a:t>nyaman</a:t>
            </a:r>
            <a:r>
              <a:rPr lang="en-US" sz="2199" dirty="0">
                <a:solidFill>
                  <a:srgbClr val="000000"/>
                </a:solidFill>
                <a:latin typeface="Jua"/>
                <a:ea typeface="Jua"/>
                <a:cs typeface="Jua"/>
                <a:sym typeface="Jua"/>
              </a:rPr>
              <a:t> </a:t>
            </a:r>
          </a:p>
          <a:p>
            <a:pPr algn="l">
              <a:lnSpc>
                <a:spcPts val="3079"/>
              </a:lnSpc>
            </a:pPr>
            <a:r>
              <a:rPr lang="en-US" sz="2199" dirty="0">
                <a:solidFill>
                  <a:srgbClr val="000000"/>
                </a:solidFill>
                <a:latin typeface="Jua"/>
                <a:ea typeface="Jua"/>
                <a:cs typeface="Jua"/>
                <a:sym typeface="Jua"/>
              </a:rPr>
              <a:t>- Label “</a:t>
            </a:r>
            <a:r>
              <a:rPr lang="en-US" sz="2199" dirty="0" err="1">
                <a:solidFill>
                  <a:srgbClr val="000000"/>
                </a:solidFill>
                <a:latin typeface="Jua"/>
                <a:ea typeface="Jua"/>
                <a:cs typeface="Jua"/>
                <a:sym typeface="Jua"/>
              </a:rPr>
              <a:t>anak</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pintar</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dari</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lingkungan</a:t>
            </a:r>
            <a:endParaRPr lang="en-US" sz="2199" dirty="0">
              <a:solidFill>
                <a:srgbClr val="000000"/>
              </a:solidFill>
              <a:latin typeface="Jua"/>
              <a:ea typeface="Jua"/>
              <a:cs typeface="Jua"/>
              <a:sym typeface="Jua"/>
            </a:endParaRPr>
          </a:p>
          <a:p>
            <a:pPr algn="l">
              <a:lnSpc>
                <a:spcPts val="3079"/>
              </a:lnSpc>
            </a:pP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Tekanan</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ekspetasi</a:t>
            </a:r>
            <a:r>
              <a:rPr lang="en-US" sz="2199" dirty="0">
                <a:solidFill>
                  <a:srgbClr val="000000"/>
                </a:solidFill>
                <a:latin typeface="Jua"/>
                <a:ea typeface="Jua"/>
                <a:cs typeface="Jua"/>
                <a:sym typeface="Jua"/>
              </a:rPr>
              <a:t> orang </a:t>
            </a:r>
            <a:r>
              <a:rPr lang="en-US" sz="2199" dirty="0" err="1">
                <a:solidFill>
                  <a:srgbClr val="000000"/>
                </a:solidFill>
                <a:latin typeface="Jua"/>
                <a:ea typeface="Jua"/>
                <a:cs typeface="Jua"/>
                <a:sym typeface="Jua"/>
              </a:rPr>
              <a:t>tua</a:t>
            </a:r>
            <a:r>
              <a:rPr lang="en-US" sz="2199" dirty="0">
                <a:solidFill>
                  <a:srgbClr val="000000"/>
                </a:solidFill>
                <a:latin typeface="Jua"/>
                <a:ea typeface="Jua"/>
                <a:cs typeface="Jua"/>
                <a:sym typeface="Jua"/>
              </a:rPr>
              <a:t> </a:t>
            </a:r>
          </a:p>
          <a:p>
            <a:pPr marL="342900" indent="-342900" algn="l">
              <a:lnSpc>
                <a:spcPts val="3079"/>
              </a:lnSpc>
              <a:buFontTx/>
              <a:buChar char="-"/>
            </a:pPr>
            <a:r>
              <a:rPr lang="en-US" sz="2199" dirty="0" err="1">
                <a:solidFill>
                  <a:srgbClr val="000000"/>
                </a:solidFill>
                <a:latin typeface="Jua"/>
                <a:ea typeface="Jua"/>
                <a:cs typeface="Jua"/>
                <a:sym typeface="Jua"/>
              </a:rPr>
              <a:t>Penilaian</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diri</a:t>
            </a:r>
            <a:r>
              <a:rPr lang="en-US" sz="2199" dirty="0">
                <a:solidFill>
                  <a:srgbClr val="000000"/>
                </a:solidFill>
                <a:latin typeface="Jua"/>
                <a:ea typeface="Jua"/>
                <a:cs typeface="Jua"/>
                <a:sym typeface="Jua"/>
              </a:rPr>
              <a:t> yang </a:t>
            </a:r>
            <a:r>
              <a:rPr lang="en-US" sz="2199" dirty="0" err="1">
                <a:solidFill>
                  <a:srgbClr val="000000"/>
                </a:solidFill>
                <a:latin typeface="Jua"/>
                <a:ea typeface="Jua"/>
                <a:cs typeface="Jua"/>
                <a:sym typeface="Jua"/>
              </a:rPr>
              <a:t>terlalu</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keras</a:t>
            </a:r>
            <a:endParaRPr lang="en-US" sz="2199" dirty="0">
              <a:solidFill>
                <a:srgbClr val="000000"/>
              </a:solidFill>
              <a:latin typeface="Jua"/>
              <a:ea typeface="Jua"/>
              <a:cs typeface="Jua"/>
              <a:sym typeface="Jua"/>
            </a:endParaRPr>
          </a:p>
          <a:p>
            <a:pPr marL="342900" indent="-342900" algn="l">
              <a:lnSpc>
                <a:spcPts val="3079"/>
              </a:lnSpc>
              <a:buFontTx/>
              <a:buChar char="-"/>
            </a:pPr>
            <a:r>
              <a:rPr lang="en-US" sz="2199" dirty="0" err="1">
                <a:solidFill>
                  <a:srgbClr val="000000"/>
                </a:solidFill>
                <a:latin typeface="Jua"/>
                <a:ea typeface="Jua"/>
                <a:cs typeface="Jua"/>
                <a:sym typeface="Jua"/>
              </a:rPr>
              <a:t>Kecemasan</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akademik</a:t>
            </a:r>
            <a:r>
              <a:rPr lang="en-US" sz="2199" dirty="0">
                <a:solidFill>
                  <a:srgbClr val="000000"/>
                </a:solidFill>
                <a:latin typeface="Jua"/>
                <a:ea typeface="Jua"/>
                <a:cs typeface="Jua"/>
                <a:sym typeface="Jua"/>
              </a:rPr>
              <a:t> yang </a:t>
            </a:r>
            <a:r>
              <a:rPr lang="en-US" sz="2199" dirty="0" err="1">
                <a:solidFill>
                  <a:srgbClr val="000000"/>
                </a:solidFill>
                <a:latin typeface="Jua"/>
                <a:ea typeface="Jua"/>
                <a:cs typeface="Jua"/>
                <a:sym typeface="Jua"/>
              </a:rPr>
              <a:t>berdampak</a:t>
            </a:r>
            <a:r>
              <a:rPr lang="en-US" sz="2199" dirty="0">
                <a:solidFill>
                  <a:srgbClr val="000000"/>
                </a:solidFill>
                <a:latin typeface="Jua"/>
                <a:ea typeface="Jua"/>
                <a:cs typeface="Jua"/>
                <a:sym typeface="Jua"/>
              </a:rPr>
              <a:t> pada </a:t>
            </a:r>
            <a:r>
              <a:rPr lang="en-US" sz="2199" dirty="0" err="1">
                <a:solidFill>
                  <a:srgbClr val="000000"/>
                </a:solidFill>
                <a:latin typeface="Jua"/>
                <a:ea typeface="Jua"/>
                <a:cs typeface="Jua"/>
                <a:sym typeface="Jua"/>
              </a:rPr>
              <a:t>kondisi</a:t>
            </a:r>
            <a:r>
              <a:rPr lang="en-US" sz="2199" dirty="0">
                <a:solidFill>
                  <a:srgbClr val="000000"/>
                </a:solidFill>
                <a:latin typeface="Jua"/>
                <a:ea typeface="Jua"/>
                <a:cs typeface="Jua"/>
                <a:sym typeface="Jua"/>
              </a:rPr>
              <a:t> </a:t>
            </a:r>
            <a:r>
              <a:rPr lang="en-US" sz="2199" dirty="0" err="1">
                <a:solidFill>
                  <a:srgbClr val="000000"/>
                </a:solidFill>
                <a:latin typeface="Jua"/>
                <a:ea typeface="Jua"/>
                <a:cs typeface="Jua"/>
                <a:sym typeface="Jua"/>
              </a:rPr>
              <a:t>fisik</a:t>
            </a:r>
            <a:endParaRPr lang="en-US" sz="2199" dirty="0">
              <a:solidFill>
                <a:srgbClr val="000000"/>
              </a:solidFill>
              <a:latin typeface="Jua"/>
              <a:ea typeface="Jua"/>
              <a:cs typeface="Jua"/>
              <a:sym typeface="Jua"/>
            </a:endParaRPr>
          </a:p>
        </p:txBody>
      </p:sp>
      <p:sp>
        <p:nvSpPr>
          <p:cNvPr id="29" name="TextBox 29"/>
          <p:cNvSpPr txBox="1"/>
          <p:nvPr/>
        </p:nvSpPr>
        <p:spPr>
          <a:xfrm>
            <a:off x="165456" y="4991100"/>
            <a:ext cx="5310653" cy="2977392"/>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000000"/>
                </a:solidFill>
                <a:latin typeface="Jua"/>
                <a:ea typeface="Jua"/>
                <a:cs typeface="Jua"/>
                <a:sym typeface="Jua"/>
              </a:rPr>
              <a:t>“</a:t>
            </a:r>
            <a:r>
              <a:rPr lang="en-US" sz="2400" dirty="0" err="1">
                <a:solidFill>
                  <a:srgbClr val="000000"/>
                </a:solidFill>
                <a:latin typeface="Jua"/>
                <a:ea typeface="Jua"/>
                <a:cs typeface="Jua"/>
                <a:sym typeface="Jua"/>
              </a:rPr>
              <a:t>Takut</a:t>
            </a:r>
            <a:r>
              <a:rPr lang="en-US" sz="2400" dirty="0">
                <a:solidFill>
                  <a:srgbClr val="000000"/>
                </a:solidFill>
                <a:latin typeface="Jua"/>
                <a:ea typeface="Jua"/>
                <a:cs typeface="Jua"/>
                <a:sym typeface="Jua"/>
              </a:rPr>
              <a:t> salah dan </a:t>
            </a:r>
            <a:r>
              <a:rPr lang="en-US" sz="2400" dirty="0" err="1">
                <a:solidFill>
                  <a:srgbClr val="000000"/>
                </a:solidFill>
                <a:latin typeface="Jua"/>
                <a:ea typeface="Jua"/>
                <a:cs typeface="Jua"/>
                <a:sym typeface="Jua"/>
              </a:rPr>
              <a:t>mengecewakan</a:t>
            </a:r>
            <a:r>
              <a:rPr lang="en-US" sz="2400" dirty="0">
                <a:solidFill>
                  <a:srgbClr val="000000"/>
                </a:solidFill>
                <a:latin typeface="Jua"/>
                <a:ea typeface="Jua"/>
                <a:cs typeface="Jua"/>
                <a:sym typeface="Jua"/>
              </a:rPr>
              <a:t>”</a:t>
            </a:r>
          </a:p>
          <a:p>
            <a:pPr marL="518160" lvl="1" indent="-259080" algn="l">
              <a:lnSpc>
                <a:spcPts val="3359"/>
              </a:lnSpc>
              <a:buFont typeface="Arial"/>
              <a:buChar char="•"/>
            </a:pPr>
            <a:r>
              <a:rPr lang="en-US" sz="2400" dirty="0">
                <a:solidFill>
                  <a:srgbClr val="000000"/>
                </a:solidFill>
                <a:latin typeface="Jua"/>
                <a:ea typeface="Jua"/>
                <a:cs typeface="Jua"/>
                <a:sym typeface="Jua"/>
              </a:rPr>
              <a:t>'</a:t>
            </a:r>
            <a:r>
              <a:rPr lang="en-US" sz="2400" dirty="0" err="1">
                <a:solidFill>
                  <a:srgbClr val="000000"/>
                </a:solidFill>
                <a:latin typeface="Jua"/>
                <a:ea typeface="Jua"/>
                <a:cs typeface="Jua"/>
                <a:sym typeface="Jua"/>
              </a:rPr>
              <a:t>Selalu</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memilih</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topik</a:t>
            </a:r>
            <a:r>
              <a:rPr lang="en-US" sz="2400" dirty="0">
                <a:solidFill>
                  <a:srgbClr val="000000"/>
                </a:solidFill>
                <a:latin typeface="Jua"/>
                <a:ea typeface="Jua"/>
                <a:cs typeface="Jua"/>
                <a:sym typeface="Jua"/>
              </a:rPr>
              <a:t> yang paling </a:t>
            </a:r>
            <a:r>
              <a:rPr lang="en-US" sz="2400" dirty="0" err="1">
                <a:solidFill>
                  <a:srgbClr val="000000"/>
                </a:solidFill>
                <a:latin typeface="Jua"/>
                <a:ea typeface="Jua"/>
                <a:cs typeface="Jua"/>
                <a:sym typeface="Jua"/>
              </a:rPr>
              <a:t>mudah</a:t>
            </a:r>
            <a:r>
              <a:rPr lang="en-US" sz="2400" dirty="0">
                <a:solidFill>
                  <a:srgbClr val="000000"/>
                </a:solidFill>
                <a:latin typeface="Jua"/>
                <a:ea typeface="Jua"/>
                <a:cs typeface="Jua"/>
                <a:sym typeface="Jua"/>
              </a:rPr>
              <a:t> dan </a:t>
            </a:r>
            <a:r>
              <a:rPr lang="en-US" sz="2400" dirty="0" err="1">
                <a:solidFill>
                  <a:srgbClr val="000000"/>
                </a:solidFill>
                <a:latin typeface="Jua"/>
                <a:ea typeface="Jua"/>
                <a:cs typeface="Jua"/>
                <a:sym typeface="Jua"/>
              </a:rPr>
              <a:t>sudah</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dikuasai</a:t>
            </a:r>
            <a:r>
              <a:rPr lang="en-US" sz="2400" dirty="0">
                <a:solidFill>
                  <a:srgbClr val="000000"/>
                </a:solidFill>
                <a:latin typeface="Jua"/>
                <a:ea typeface="Jua"/>
                <a:cs typeface="Jua"/>
                <a:sym typeface="Jua"/>
              </a:rPr>
              <a:t>. </a:t>
            </a:r>
          </a:p>
          <a:p>
            <a:pPr marL="518160" lvl="1" indent="-259080" algn="l">
              <a:lnSpc>
                <a:spcPts val="3359"/>
              </a:lnSpc>
              <a:buFont typeface="Arial"/>
              <a:buChar char="•"/>
            </a:pPr>
            <a:r>
              <a:rPr lang="en-US" sz="2400" dirty="0">
                <a:solidFill>
                  <a:srgbClr val="000000"/>
                </a:solidFill>
                <a:latin typeface="Jua"/>
                <a:ea typeface="Jua"/>
                <a:cs typeface="Jua"/>
                <a:sym typeface="Jua"/>
              </a:rPr>
              <a:t>“Aku </a:t>
            </a:r>
            <a:r>
              <a:rPr lang="en-US" sz="2400" dirty="0" err="1">
                <a:solidFill>
                  <a:srgbClr val="000000"/>
                </a:solidFill>
                <a:latin typeface="Jua"/>
                <a:ea typeface="Jua"/>
                <a:cs typeface="Jua"/>
                <a:sym typeface="Jua"/>
              </a:rPr>
              <a:t>memang</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bodoh</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matematika</a:t>
            </a:r>
            <a:r>
              <a:rPr lang="en-US" sz="2400" dirty="0">
                <a:solidFill>
                  <a:srgbClr val="000000"/>
                </a:solidFill>
                <a:latin typeface="Jua"/>
                <a:ea typeface="Jua"/>
                <a:cs typeface="Jua"/>
                <a:sym typeface="Jua"/>
              </a:rPr>
              <a:t>. Aku </a:t>
            </a:r>
            <a:r>
              <a:rPr lang="en-US" sz="2400" dirty="0" err="1">
                <a:solidFill>
                  <a:srgbClr val="000000"/>
                </a:solidFill>
                <a:latin typeface="Jua"/>
                <a:ea typeface="Jua"/>
                <a:cs typeface="Jua"/>
                <a:sym typeface="Jua"/>
              </a:rPr>
              <a:t>tidak</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cukup</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pintar</a:t>
            </a:r>
            <a:r>
              <a:rPr lang="en-US" sz="2400" dirty="0">
                <a:solidFill>
                  <a:srgbClr val="000000"/>
                </a:solidFill>
                <a:latin typeface="Jua"/>
                <a:ea typeface="Jua"/>
                <a:cs typeface="Jua"/>
                <a:sym typeface="Jua"/>
              </a:rPr>
              <a:t>”</a:t>
            </a:r>
          </a:p>
          <a:p>
            <a:pPr marL="518160" lvl="1" indent="-259080" algn="l">
              <a:lnSpc>
                <a:spcPts val="3359"/>
              </a:lnSpc>
              <a:buFont typeface="Arial"/>
              <a:buChar char="•"/>
            </a:pPr>
            <a:r>
              <a:rPr lang="en-US" sz="2400" dirty="0">
                <a:solidFill>
                  <a:srgbClr val="000000"/>
                </a:solidFill>
                <a:latin typeface="Jua"/>
                <a:ea typeface="Jua"/>
                <a:cs typeface="Jua"/>
                <a:sym typeface="Jua"/>
              </a:rPr>
              <a:t>Tidak </a:t>
            </a:r>
            <a:r>
              <a:rPr lang="en-US" sz="2400" dirty="0" err="1">
                <a:solidFill>
                  <a:srgbClr val="000000"/>
                </a:solidFill>
                <a:latin typeface="Jua"/>
                <a:ea typeface="Jua"/>
                <a:cs typeface="Jua"/>
                <a:sym typeface="Jua"/>
              </a:rPr>
              <a:t>memiliki</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keberanian</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untuk</a:t>
            </a:r>
            <a:r>
              <a:rPr lang="en-US" sz="2400" dirty="0">
                <a:solidFill>
                  <a:srgbClr val="000000"/>
                </a:solidFill>
                <a:latin typeface="Jua"/>
                <a:ea typeface="Jua"/>
                <a:cs typeface="Jua"/>
                <a:sym typeface="Jua"/>
              </a:rPr>
              <a:t> </a:t>
            </a:r>
            <a:r>
              <a:rPr lang="en-US" sz="2400" dirty="0" err="1">
                <a:solidFill>
                  <a:srgbClr val="000000"/>
                </a:solidFill>
                <a:latin typeface="Jua"/>
                <a:ea typeface="Jua"/>
                <a:cs typeface="Jua"/>
                <a:sym typeface="Jua"/>
              </a:rPr>
              <a:t>mencoba</a:t>
            </a:r>
            <a:endParaRPr lang="en-US" sz="2400" dirty="0">
              <a:solidFill>
                <a:srgbClr val="000000"/>
              </a:solidFill>
              <a:latin typeface="Jua"/>
              <a:ea typeface="Jua"/>
              <a:cs typeface="Jua"/>
              <a:sym typeface="Jua"/>
            </a:endParaRPr>
          </a:p>
        </p:txBody>
      </p:sp>
      <p:sp>
        <p:nvSpPr>
          <p:cNvPr id="30" name="Freeform 30"/>
          <p:cNvSpPr/>
          <p:nvPr/>
        </p:nvSpPr>
        <p:spPr>
          <a:xfrm rot="1709965" flipH="1">
            <a:off x="10432851" y="7851881"/>
            <a:ext cx="2190281" cy="2230842"/>
          </a:xfrm>
          <a:custGeom>
            <a:avLst/>
            <a:gdLst/>
            <a:ahLst/>
            <a:cxnLst/>
            <a:rect l="l" t="t" r="r" b="b"/>
            <a:pathLst>
              <a:path w="2190281" h="2230842">
                <a:moveTo>
                  <a:pt x="2190281" y="0"/>
                </a:moveTo>
                <a:lnTo>
                  <a:pt x="0" y="0"/>
                </a:lnTo>
                <a:lnTo>
                  <a:pt x="0" y="2230842"/>
                </a:lnTo>
                <a:lnTo>
                  <a:pt x="2190281" y="2230842"/>
                </a:lnTo>
                <a:lnTo>
                  <a:pt x="2190281"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1" name="Freeform 31"/>
          <p:cNvSpPr/>
          <p:nvPr/>
        </p:nvSpPr>
        <p:spPr>
          <a:xfrm rot="392175">
            <a:off x="5735133" y="261345"/>
            <a:ext cx="3131785" cy="985089"/>
          </a:xfrm>
          <a:custGeom>
            <a:avLst/>
            <a:gdLst/>
            <a:ahLst/>
            <a:cxnLst/>
            <a:rect l="l" t="t" r="r" b="b"/>
            <a:pathLst>
              <a:path w="3131785" h="985089">
                <a:moveTo>
                  <a:pt x="0" y="0"/>
                </a:moveTo>
                <a:lnTo>
                  <a:pt x="3131785" y="0"/>
                </a:lnTo>
                <a:lnTo>
                  <a:pt x="3131785" y="985088"/>
                </a:lnTo>
                <a:lnTo>
                  <a:pt x="0" y="985088"/>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sp>
      <p:sp>
        <p:nvSpPr>
          <p:cNvPr id="32" name="TextBox 32"/>
          <p:cNvSpPr txBox="1"/>
          <p:nvPr/>
        </p:nvSpPr>
        <p:spPr>
          <a:xfrm rot="364072">
            <a:off x="5701185" y="330150"/>
            <a:ext cx="3024687" cy="769441"/>
          </a:xfrm>
          <a:prstGeom prst="rect">
            <a:avLst/>
          </a:prstGeom>
        </p:spPr>
        <p:txBody>
          <a:bodyPr wrap="square" lIns="0" tIns="0" rIns="0" bIns="0" rtlCol="0" anchor="t">
            <a:spAutoFit/>
          </a:bodyPr>
          <a:lstStyle/>
          <a:p>
            <a:pPr marL="0" lvl="0" indent="0" algn="ctr">
              <a:lnSpc>
                <a:spcPts val="3040"/>
              </a:lnSpc>
              <a:spcBef>
                <a:spcPct val="0"/>
              </a:spcBef>
            </a:pPr>
            <a:r>
              <a:rPr lang="en-US" sz="3200" dirty="0">
                <a:solidFill>
                  <a:srgbClr val="292929"/>
                </a:solidFill>
                <a:latin typeface="Jua"/>
                <a:ea typeface="Jua"/>
                <a:cs typeface="Jua"/>
                <a:sym typeface="Jua"/>
              </a:rPr>
              <a:t>INTI </a:t>
            </a:r>
          </a:p>
          <a:p>
            <a:pPr marL="0" lvl="0" indent="0" algn="ctr">
              <a:lnSpc>
                <a:spcPts val="3040"/>
              </a:lnSpc>
              <a:spcBef>
                <a:spcPct val="0"/>
              </a:spcBef>
            </a:pPr>
            <a:r>
              <a:rPr lang="en-US" sz="3200" dirty="0">
                <a:solidFill>
                  <a:srgbClr val="292929"/>
                </a:solidFill>
                <a:latin typeface="Jua"/>
                <a:ea typeface="Jua"/>
                <a:cs typeface="Jua"/>
                <a:sym typeface="Jua"/>
              </a:rPr>
              <a:t>MASALAH</a:t>
            </a:r>
          </a:p>
        </p:txBody>
      </p:sp>
      <p:sp>
        <p:nvSpPr>
          <p:cNvPr id="33" name="Freeform 33"/>
          <p:cNvSpPr/>
          <p:nvPr/>
        </p:nvSpPr>
        <p:spPr>
          <a:xfrm rot="-75602">
            <a:off x="13189045" y="3565126"/>
            <a:ext cx="3477671" cy="1086772"/>
          </a:xfrm>
          <a:custGeom>
            <a:avLst/>
            <a:gdLst/>
            <a:ahLst/>
            <a:cxnLst/>
            <a:rect l="l" t="t" r="r" b="b"/>
            <a:pathLst>
              <a:path w="3477671" h="1086772">
                <a:moveTo>
                  <a:pt x="0" y="0"/>
                </a:moveTo>
                <a:lnTo>
                  <a:pt x="3477671" y="0"/>
                </a:lnTo>
                <a:lnTo>
                  <a:pt x="3477671" y="1086772"/>
                </a:lnTo>
                <a:lnTo>
                  <a:pt x="0" y="1086772"/>
                </a:lnTo>
                <a:lnTo>
                  <a:pt x="0" y="0"/>
                </a:lnTo>
                <a:close/>
              </a:path>
            </a:pathLst>
          </a:custGeom>
          <a:blipFill>
            <a:blip r:embed="rId14">
              <a:extLst>
                <a:ext uri="{96DAC541-7B7A-43D3-8B79-37D633B846F1}">
                  <asvg:svgBlip xmlns:asvg="http://schemas.microsoft.com/office/drawing/2016/SVG/main" r:embed="rId15"/>
                </a:ext>
              </a:extLst>
            </a:blip>
            <a:stretch>
              <a:fillRect/>
            </a:stretch>
          </a:blipFill>
          <a:ln cap="sq">
            <a:noFill/>
            <a:prstDash val="solid"/>
            <a:miter/>
          </a:ln>
        </p:spPr>
      </p:sp>
      <p:sp>
        <p:nvSpPr>
          <p:cNvPr id="34" name="Freeform 34"/>
          <p:cNvSpPr/>
          <p:nvPr/>
        </p:nvSpPr>
        <p:spPr>
          <a:xfrm rot="71568">
            <a:off x="1823349" y="3868442"/>
            <a:ext cx="2758105" cy="867550"/>
          </a:xfrm>
          <a:custGeom>
            <a:avLst/>
            <a:gdLst/>
            <a:ahLst/>
            <a:cxnLst/>
            <a:rect l="l" t="t" r="r" b="b"/>
            <a:pathLst>
              <a:path w="2758105" h="867550">
                <a:moveTo>
                  <a:pt x="0" y="0"/>
                </a:moveTo>
                <a:lnTo>
                  <a:pt x="2758106" y="0"/>
                </a:lnTo>
                <a:lnTo>
                  <a:pt x="2758106" y="867550"/>
                </a:lnTo>
                <a:lnTo>
                  <a:pt x="0" y="867550"/>
                </a:lnTo>
                <a:lnTo>
                  <a:pt x="0" y="0"/>
                </a:lnTo>
                <a:close/>
              </a:path>
            </a:pathLst>
          </a:custGeom>
          <a:blipFill>
            <a:blip r:embed="rId16">
              <a:extLst>
                <a:ext uri="{96DAC541-7B7A-43D3-8B79-37D633B846F1}">
                  <asvg:svgBlip xmlns:asvg="http://schemas.microsoft.com/office/drawing/2016/SVG/main" r:embed="rId17"/>
                </a:ext>
              </a:extLst>
            </a:blip>
            <a:stretch>
              <a:fillRect/>
            </a:stretch>
          </a:blipFill>
          <a:ln cap="sq">
            <a:noFill/>
            <a:prstDash val="solid"/>
            <a:miter/>
          </a:ln>
        </p:spPr>
      </p:sp>
      <p:sp>
        <p:nvSpPr>
          <p:cNvPr id="35" name="Freeform 35"/>
          <p:cNvSpPr/>
          <p:nvPr/>
        </p:nvSpPr>
        <p:spPr>
          <a:xfrm rot="5298180">
            <a:off x="12419044" y="3297438"/>
            <a:ext cx="1923902" cy="459165"/>
          </a:xfrm>
          <a:custGeom>
            <a:avLst/>
            <a:gdLst/>
            <a:ahLst/>
            <a:cxnLst/>
            <a:rect l="l" t="t" r="r" b="b"/>
            <a:pathLst>
              <a:path w="1923902" h="459165">
                <a:moveTo>
                  <a:pt x="0" y="0"/>
                </a:moveTo>
                <a:lnTo>
                  <a:pt x="1923901" y="0"/>
                </a:lnTo>
                <a:lnTo>
                  <a:pt x="1923901" y="459165"/>
                </a:lnTo>
                <a:lnTo>
                  <a:pt x="0" y="459165"/>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36" name="TextBox 36"/>
          <p:cNvSpPr txBox="1"/>
          <p:nvPr/>
        </p:nvSpPr>
        <p:spPr>
          <a:xfrm rot="211689">
            <a:off x="2063734" y="3882959"/>
            <a:ext cx="2109423" cy="863600"/>
          </a:xfrm>
          <a:prstGeom prst="rect">
            <a:avLst/>
          </a:prstGeom>
        </p:spPr>
        <p:txBody>
          <a:bodyPr lIns="0" tIns="0" rIns="0" bIns="0" rtlCol="0" anchor="t">
            <a:spAutoFit/>
          </a:bodyPr>
          <a:lstStyle/>
          <a:p>
            <a:pPr marL="0" lvl="0" indent="0" algn="ctr">
              <a:lnSpc>
                <a:spcPts val="3040"/>
              </a:lnSpc>
              <a:spcBef>
                <a:spcPct val="0"/>
              </a:spcBef>
            </a:pPr>
            <a:r>
              <a:rPr lang="en-US" sz="3200">
                <a:solidFill>
                  <a:srgbClr val="292929"/>
                </a:solidFill>
                <a:latin typeface="Jua"/>
                <a:ea typeface="Jua"/>
                <a:cs typeface="Jua"/>
                <a:sym typeface="Jua"/>
              </a:rPr>
              <a:t>FIXED MINDSET</a:t>
            </a:r>
          </a:p>
        </p:txBody>
      </p:sp>
      <p:sp>
        <p:nvSpPr>
          <p:cNvPr id="37" name="TextBox 37"/>
          <p:cNvSpPr txBox="1"/>
          <p:nvPr/>
        </p:nvSpPr>
        <p:spPr>
          <a:xfrm rot="211689">
            <a:off x="-1828294" y="7426716"/>
            <a:ext cx="2109423" cy="482600"/>
          </a:xfrm>
          <a:prstGeom prst="rect">
            <a:avLst/>
          </a:prstGeom>
        </p:spPr>
        <p:txBody>
          <a:bodyPr lIns="0" tIns="0" rIns="0" bIns="0" rtlCol="0" anchor="t">
            <a:spAutoFit/>
          </a:bodyPr>
          <a:lstStyle/>
          <a:p>
            <a:pPr marL="0" lvl="0" indent="0" algn="ctr">
              <a:lnSpc>
                <a:spcPts val="3040"/>
              </a:lnSpc>
              <a:spcBef>
                <a:spcPct val="0"/>
              </a:spcBef>
            </a:pPr>
            <a:r>
              <a:rPr lang="en-US" sz="3200">
                <a:solidFill>
                  <a:srgbClr val="292929"/>
                </a:solidFill>
                <a:latin typeface="Jua"/>
                <a:ea typeface="Jua"/>
                <a:cs typeface="Jua"/>
                <a:sym typeface="Jua"/>
              </a:rPr>
              <a:t>Strategies</a:t>
            </a:r>
          </a:p>
        </p:txBody>
      </p:sp>
      <p:sp>
        <p:nvSpPr>
          <p:cNvPr id="38" name="TextBox 38"/>
          <p:cNvSpPr txBox="1"/>
          <p:nvPr/>
        </p:nvSpPr>
        <p:spPr>
          <a:xfrm>
            <a:off x="13670753" y="3729045"/>
            <a:ext cx="2420534" cy="769441"/>
          </a:xfrm>
          <a:prstGeom prst="rect">
            <a:avLst/>
          </a:prstGeom>
        </p:spPr>
        <p:txBody>
          <a:bodyPr wrap="square" lIns="0" tIns="0" rIns="0" bIns="0" rtlCol="0" anchor="t">
            <a:spAutoFit/>
          </a:bodyPr>
          <a:lstStyle/>
          <a:p>
            <a:pPr marL="0" lvl="0" indent="0" algn="ctr">
              <a:lnSpc>
                <a:spcPts val="3040"/>
              </a:lnSpc>
              <a:spcBef>
                <a:spcPct val="0"/>
              </a:spcBef>
            </a:pPr>
            <a:r>
              <a:rPr lang="en-US" sz="3200" dirty="0">
                <a:solidFill>
                  <a:srgbClr val="292929"/>
                </a:solidFill>
                <a:latin typeface="Jua"/>
                <a:ea typeface="Jua"/>
                <a:cs typeface="Jua"/>
                <a:sym typeface="Jua"/>
              </a:rPr>
              <a:t>PENYEBAB POLA PIKIR</a:t>
            </a:r>
          </a:p>
        </p:txBody>
      </p:sp>
      <p:sp>
        <p:nvSpPr>
          <p:cNvPr id="39" name="Freeform 39"/>
          <p:cNvSpPr/>
          <p:nvPr/>
        </p:nvSpPr>
        <p:spPr>
          <a:xfrm>
            <a:off x="50340" y="123312"/>
            <a:ext cx="3311658" cy="627613"/>
          </a:xfrm>
          <a:custGeom>
            <a:avLst/>
            <a:gdLst/>
            <a:ahLst/>
            <a:cxnLst/>
            <a:rect l="l" t="t" r="r" b="b"/>
            <a:pathLst>
              <a:path w="3311658" h="627613">
                <a:moveTo>
                  <a:pt x="0" y="0"/>
                </a:moveTo>
                <a:lnTo>
                  <a:pt x="3311658" y="0"/>
                </a:lnTo>
                <a:lnTo>
                  <a:pt x="3311658" y="627613"/>
                </a:lnTo>
                <a:lnTo>
                  <a:pt x="0" y="627613"/>
                </a:lnTo>
                <a:lnTo>
                  <a:pt x="0" y="0"/>
                </a:lnTo>
                <a:close/>
              </a:path>
            </a:pathLst>
          </a:custGeom>
          <a:blipFill>
            <a:blip r:embed="rId20"/>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193" y="-6292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rot="-1503136">
            <a:off x="12865699" y="3981878"/>
            <a:ext cx="2332965" cy="2323245"/>
          </a:xfrm>
          <a:custGeom>
            <a:avLst/>
            <a:gdLst/>
            <a:ahLst/>
            <a:cxnLst/>
            <a:rect l="l" t="t" r="r" b="b"/>
            <a:pathLst>
              <a:path w="2332965" h="2323245">
                <a:moveTo>
                  <a:pt x="0" y="0"/>
                </a:moveTo>
                <a:lnTo>
                  <a:pt x="2332965" y="0"/>
                </a:lnTo>
                <a:lnTo>
                  <a:pt x="2332965" y="2323244"/>
                </a:lnTo>
                <a:lnTo>
                  <a:pt x="0" y="2323244"/>
                </a:lnTo>
                <a:lnTo>
                  <a:pt x="0" y="0"/>
                </a:lnTo>
                <a:close/>
              </a:path>
            </a:pathLst>
          </a:custGeom>
          <a:blipFill>
            <a:blip r:embed="rId3"/>
            <a:stretch>
              <a:fillRect/>
            </a:stretch>
          </a:blipFill>
        </p:spPr>
      </p:sp>
      <p:sp>
        <p:nvSpPr>
          <p:cNvPr id="4" name="Freeform 4"/>
          <p:cNvSpPr/>
          <p:nvPr/>
        </p:nvSpPr>
        <p:spPr>
          <a:xfrm flipH="1">
            <a:off x="15175430" y="7497187"/>
            <a:ext cx="3991176" cy="3364229"/>
          </a:xfrm>
          <a:custGeom>
            <a:avLst/>
            <a:gdLst/>
            <a:ahLst/>
            <a:cxnLst/>
            <a:rect l="l" t="t" r="r" b="b"/>
            <a:pathLst>
              <a:path w="3991176" h="3364229">
                <a:moveTo>
                  <a:pt x="3991175" y="0"/>
                </a:moveTo>
                <a:lnTo>
                  <a:pt x="0" y="0"/>
                </a:lnTo>
                <a:lnTo>
                  <a:pt x="0" y="3364228"/>
                </a:lnTo>
                <a:lnTo>
                  <a:pt x="3991175" y="3364228"/>
                </a:lnTo>
                <a:lnTo>
                  <a:pt x="3991175" y="0"/>
                </a:lnTo>
                <a:close/>
              </a:path>
            </a:pathLst>
          </a:custGeom>
          <a:blipFill>
            <a:blip r:embed="rId4"/>
            <a:stretch>
              <a:fillRect/>
            </a:stretch>
          </a:blipFill>
        </p:spPr>
      </p:sp>
      <p:grpSp>
        <p:nvGrpSpPr>
          <p:cNvPr id="5" name="Group 5"/>
          <p:cNvGrpSpPr/>
          <p:nvPr/>
        </p:nvGrpSpPr>
        <p:grpSpPr>
          <a:xfrm>
            <a:off x="0" y="1848490"/>
            <a:ext cx="12217531" cy="8438510"/>
            <a:chOff x="0" y="0"/>
            <a:chExt cx="4574744" cy="3159724"/>
          </a:xfrm>
        </p:grpSpPr>
        <p:sp>
          <p:nvSpPr>
            <p:cNvPr id="6" name="Freeform 6"/>
            <p:cNvSpPr/>
            <p:nvPr/>
          </p:nvSpPr>
          <p:spPr>
            <a:xfrm>
              <a:off x="0" y="0"/>
              <a:ext cx="4574744" cy="3159724"/>
            </a:xfrm>
            <a:custGeom>
              <a:avLst/>
              <a:gdLst/>
              <a:ahLst/>
              <a:cxnLst/>
              <a:rect l="l" t="t" r="r" b="b"/>
              <a:pathLst>
                <a:path w="4574744" h="3159724">
                  <a:moveTo>
                    <a:pt x="12673" y="0"/>
                  </a:moveTo>
                  <a:lnTo>
                    <a:pt x="4562071" y="0"/>
                  </a:lnTo>
                  <a:cubicBezTo>
                    <a:pt x="4569070" y="0"/>
                    <a:pt x="4574744" y="5674"/>
                    <a:pt x="4574744" y="12673"/>
                  </a:cubicBezTo>
                  <a:lnTo>
                    <a:pt x="4574744" y="3147051"/>
                  </a:lnTo>
                  <a:cubicBezTo>
                    <a:pt x="4574744" y="3150412"/>
                    <a:pt x="4573409" y="3153635"/>
                    <a:pt x="4571033" y="3156012"/>
                  </a:cubicBezTo>
                  <a:cubicBezTo>
                    <a:pt x="4568656" y="3158389"/>
                    <a:pt x="4565432" y="3159724"/>
                    <a:pt x="4562071" y="3159724"/>
                  </a:cubicBezTo>
                  <a:lnTo>
                    <a:pt x="12673" y="3159724"/>
                  </a:lnTo>
                  <a:cubicBezTo>
                    <a:pt x="5674" y="3159724"/>
                    <a:pt x="0" y="3154050"/>
                    <a:pt x="0" y="3147051"/>
                  </a:cubicBezTo>
                  <a:lnTo>
                    <a:pt x="0" y="12673"/>
                  </a:lnTo>
                  <a:cubicBezTo>
                    <a:pt x="0" y="9312"/>
                    <a:pt x="1335" y="6089"/>
                    <a:pt x="3712" y="3712"/>
                  </a:cubicBezTo>
                  <a:cubicBezTo>
                    <a:pt x="6089" y="1335"/>
                    <a:pt x="9312" y="0"/>
                    <a:pt x="12673" y="0"/>
                  </a:cubicBezTo>
                  <a:close/>
                </a:path>
              </a:pathLst>
            </a:custGeom>
            <a:solidFill>
              <a:srgbClr val="FFF0E1"/>
            </a:solidFill>
            <a:ln w="19050" cap="sq">
              <a:solidFill>
                <a:srgbClr val="000000"/>
              </a:solidFill>
              <a:prstDash val="solid"/>
              <a:miter/>
            </a:ln>
          </p:spPr>
        </p:sp>
        <p:sp>
          <p:nvSpPr>
            <p:cNvPr id="7" name="TextBox 7"/>
            <p:cNvSpPr txBox="1"/>
            <p:nvPr/>
          </p:nvSpPr>
          <p:spPr>
            <a:xfrm>
              <a:off x="0" y="-76200"/>
              <a:ext cx="4574744" cy="3235924"/>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8872410" y="487542"/>
            <a:ext cx="1152777" cy="1113871"/>
          </a:xfrm>
          <a:custGeom>
            <a:avLst/>
            <a:gdLst/>
            <a:ahLst/>
            <a:cxnLst/>
            <a:rect l="l" t="t" r="r" b="b"/>
            <a:pathLst>
              <a:path w="1152777" h="1113871">
                <a:moveTo>
                  <a:pt x="0" y="0"/>
                </a:moveTo>
                <a:lnTo>
                  <a:pt x="1152776" y="0"/>
                </a:lnTo>
                <a:lnTo>
                  <a:pt x="1152776" y="1113871"/>
                </a:lnTo>
                <a:lnTo>
                  <a:pt x="0" y="1113871"/>
                </a:lnTo>
                <a:lnTo>
                  <a:pt x="0" y="0"/>
                </a:lnTo>
                <a:close/>
              </a:path>
            </a:pathLst>
          </a:custGeom>
          <a:blipFill>
            <a:blip r:embed="rId5"/>
            <a:stretch>
              <a:fillRect/>
            </a:stretch>
          </a:blipFill>
        </p:spPr>
      </p:sp>
      <p:sp>
        <p:nvSpPr>
          <p:cNvPr id="9" name="Freeform 9"/>
          <p:cNvSpPr/>
          <p:nvPr/>
        </p:nvSpPr>
        <p:spPr>
          <a:xfrm flipH="1">
            <a:off x="452312" y="252664"/>
            <a:ext cx="1152777" cy="1113871"/>
          </a:xfrm>
          <a:custGeom>
            <a:avLst/>
            <a:gdLst/>
            <a:ahLst/>
            <a:cxnLst/>
            <a:rect l="l" t="t" r="r" b="b"/>
            <a:pathLst>
              <a:path w="1152777" h="1113871">
                <a:moveTo>
                  <a:pt x="1152776" y="0"/>
                </a:moveTo>
                <a:lnTo>
                  <a:pt x="0" y="0"/>
                </a:lnTo>
                <a:lnTo>
                  <a:pt x="0" y="1113870"/>
                </a:lnTo>
                <a:lnTo>
                  <a:pt x="1152776" y="1113870"/>
                </a:lnTo>
                <a:lnTo>
                  <a:pt x="1152776" y="0"/>
                </a:lnTo>
                <a:close/>
              </a:path>
            </a:pathLst>
          </a:custGeom>
          <a:blipFill>
            <a:blip r:embed="rId5"/>
            <a:stretch>
              <a:fillRect/>
            </a:stretch>
          </a:blipFill>
        </p:spPr>
      </p:sp>
      <p:sp>
        <p:nvSpPr>
          <p:cNvPr id="10" name="Freeform 10"/>
          <p:cNvSpPr/>
          <p:nvPr/>
        </p:nvSpPr>
        <p:spPr>
          <a:xfrm flipH="1">
            <a:off x="12003686" y="7791505"/>
            <a:ext cx="3256618" cy="3069910"/>
          </a:xfrm>
          <a:custGeom>
            <a:avLst/>
            <a:gdLst/>
            <a:ahLst/>
            <a:cxnLst/>
            <a:rect l="l" t="t" r="r" b="b"/>
            <a:pathLst>
              <a:path w="3256618" h="3069910">
                <a:moveTo>
                  <a:pt x="3256619" y="0"/>
                </a:moveTo>
                <a:lnTo>
                  <a:pt x="0" y="0"/>
                </a:lnTo>
                <a:lnTo>
                  <a:pt x="0" y="3069910"/>
                </a:lnTo>
                <a:lnTo>
                  <a:pt x="3256619" y="3069910"/>
                </a:lnTo>
                <a:lnTo>
                  <a:pt x="3256619" y="0"/>
                </a:lnTo>
                <a:close/>
              </a:path>
            </a:pathLst>
          </a:custGeom>
          <a:blipFill>
            <a:blip r:embed="rId6"/>
            <a:stretch>
              <a:fillRect/>
            </a:stretch>
          </a:blipFill>
        </p:spPr>
      </p:sp>
      <p:sp>
        <p:nvSpPr>
          <p:cNvPr id="11" name="TextBox 11"/>
          <p:cNvSpPr txBox="1"/>
          <p:nvPr/>
        </p:nvSpPr>
        <p:spPr>
          <a:xfrm rot="2253117">
            <a:off x="12202788" y="2635971"/>
            <a:ext cx="7801868" cy="2270174"/>
          </a:xfrm>
          <a:prstGeom prst="rect">
            <a:avLst/>
          </a:prstGeom>
        </p:spPr>
        <p:txBody>
          <a:bodyPr lIns="0" tIns="0" rIns="0" bIns="0" rtlCol="0" anchor="t">
            <a:spAutoFit/>
          </a:bodyPr>
          <a:lstStyle/>
          <a:p>
            <a:pPr algn="ctr">
              <a:lnSpc>
                <a:spcPts val="9000"/>
              </a:lnSpc>
            </a:pPr>
            <a:r>
              <a:rPr lang="en-US" sz="9000" spc="630" dirty="0">
                <a:solidFill>
                  <a:srgbClr val="254C9B"/>
                </a:solidFill>
                <a:latin typeface="Jua"/>
                <a:ea typeface="Jua"/>
                <a:cs typeface="Jua"/>
                <a:sym typeface="Jua"/>
              </a:rPr>
              <a:t>KASUS DIAN</a:t>
            </a:r>
          </a:p>
          <a:p>
            <a:pPr algn="ctr">
              <a:lnSpc>
                <a:spcPts val="9000"/>
              </a:lnSpc>
            </a:pPr>
            <a:endParaRPr lang="en-US" sz="9000" spc="630" dirty="0">
              <a:solidFill>
                <a:srgbClr val="254C9B"/>
              </a:solidFill>
              <a:latin typeface="Jua"/>
              <a:ea typeface="Jua"/>
              <a:cs typeface="Jua"/>
              <a:sym typeface="Jua"/>
            </a:endParaRPr>
          </a:p>
        </p:txBody>
      </p:sp>
      <p:sp>
        <p:nvSpPr>
          <p:cNvPr id="12" name="Freeform 12"/>
          <p:cNvSpPr/>
          <p:nvPr/>
        </p:nvSpPr>
        <p:spPr>
          <a:xfrm>
            <a:off x="12881445" y="5793853"/>
            <a:ext cx="4701447" cy="4701447"/>
          </a:xfrm>
          <a:custGeom>
            <a:avLst/>
            <a:gdLst/>
            <a:ahLst/>
            <a:cxnLst/>
            <a:rect l="l" t="t" r="r" b="b"/>
            <a:pathLst>
              <a:path w="4701447" h="4701447">
                <a:moveTo>
                  <a:pt x="0" y="0"/>
                </a:moveTo>
                <a:lnTo>
                  <a:pt x="4701447" y="0"/>
                </a:lnTo>
                <a:lnTo>
                  <a:pt x="4701447" y="4701447"/>
                </a:lnTo>
                <a:lnTo>
                  <a:pt x="0" y="4701447"/>
                </a:lnTo>
                <a:lnTo>
                  <a:pt x="0" y="0"/>
                </a:lnTo>
                <a:close/>
              </a:path>
            </a:pathLst>
          </a:custGeom>
          <a:blipFill>
            <a:blip r:embed="rId7"/>
            <a:stretch>
              <a:fillRect/>
            </a:stretch>
          </a:blipFill>
        </p:spPr>
      </p:sp>
      <p:sp>
        <p:nvSpPr>
          <p:cNvPr id="13" name="TextBox 13"/>
          <p:cNvSpPr txBox="1"/>
          <p:nvPr/>
        </p:nvSpPr>
        <p:spPr>
          <a:xfrm>
            <a:off x="41193" y="2458476"/>
            <a:ext cx="11664683" cy="7028940"/>
          </a:xfrm>
          <a:prstGeom prst="rect">
            <a:avLst/>
          </a:prstGeom>
        </p:spPr>
        <p:txBody>
          <a:bodyPr wrap="square" lIns="0" tIns="0" rIns="0" bIns="0" rtlCol="0" anchor="t">
            <a:spAutoFit/>
          </a:bodyPr>
          <a:lstStyle/>
          <a:p>
            <a:pPr marL="703945" lvl="1" indent="-351972" algn="just">
              <a:lnSpc>
                <a:spcPts val="4564"/>
              </a:lnSpc>
              <a:buFont typeface="Arial"/>
              <a:buChar char="•"/>
            </a:pPr>
            <a:r>
              <a:rPr lang="en-US" sz="3260" dirty="0" err="1">
                <a:solidFill>
                  <a:srgbClr val="186AB4"/>
                </a:solidFill>
                <a:latin typeface="Jua"/>
                <a:ea typeface="Jua"/>
                <a:cs typeface="Jua"/>
                <a:sym typeface="Jua"/>
              </a:rPr>
              <a:t>Tantangan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sebagai</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kesempatan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untuk</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belajar</a:t>
            </a:r>
            <a:r>
              <a:rPr lang="en-US" sz="3260" dirty="0">
                <a:solidFill>
                  <a:srgbClr val="000000"/>
                </a:solidFill>
                <a:latin typeface="Jua"/>
                <a:ea typeface="Jua"/>
                <a:cs typeface="Jua"/>
                <a:sym typeface="Jua"/>
              </a:rPr>
              <a:t> dan </a:t>
            </a:r>
            <a:r>
              <a:rPr lang="en-US" sz="3260" dirty="0" err="1">
                <a:solidFill>
                  <a:srgbClr val="000000"/>
                </a:solidFill>
                <a:latin typeface="Jua"/>
                <a:ea typeface="Jua"/>
                <a:cs typeface="Jua"/>
                <a:sym typeface="Jua"/>
              </a:rPr>
              <a:t>berkembang</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bukan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sebagai</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ancaman</a:t>
            </a:r>
            <a:r>
              <a:rPr lang="en-US" sz="3260" dirty="0">
                <a:solidFill>
                  <a:srgbClr val="000000"/>
                </a:solidFill>
                <a:latin typeface="Jua"/>
                <a:ea typeface="Jua"/>
                <a:cs typeface="Jua"/>
                <a:sym typeface="Jua"/>
              </a:rPr>
              <a:t>.</a:t>
            </a:r>
          </a:p>
          <a:p>
            <a:pPr marL="703945" lvl="1" indent="-351972" algn="just">
              <a:lnSpc>
                <a:spcPts val="4564"/>
              </a:lnSpc>
              <a:buFont typeface="Arial"/>
              <a:buChar char="•"/>
            </a:pPr>
            <a:r>
              <a:rPr lang="en-US" sz="3260" dirty="0" err="1">
                <a:solidFill>
                  <a:srgbClr val="186AB4"/>
                </a:solidFill>
                <a:latin typeface="Jua"/>
                <a:ea typeface="Jua"/>
                <a:cs typeface="Jua"/>
                <a:sym typeface="Jua"/>
              </a:rPr>
              <a:t>Rintangan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Rintangan</a:t>
            </a:r>
            <a:r>
              <a:rPr lang="en-US" sz="3260" dirty="0">
                <a:solidFill>
                  <a:srgbClr val="000000"/>
                </a:solidFill>
                <a:latin typeface="Jua"/>
                <a:ea typeface="Jua"/>
                <a:cs typeface="Jua"/>
                <a:sym typeface="Jua"/>
              </a:rPr>
              <a:t> dan </a:t>
            </a:r>
            <a:r>
              <a:rPr lang="en-US" sz="3260" dirty="0" err="1">
                <a:solidFill>
                  <a:srgbClr val="000000"/>
                </a:solidFill>
                <a:latin typeface="Jua"/>
                <a:ea typeface="Jua"/>
                <a:cs typeface="Jua"/>
                <a:sym typeface="Jua"/>
              </a:rPr>
              <a:t>kegagalan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adalah</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bagian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dari</a:t>
            </a:r>
            <a:r>
              <a:rPr lang="en-US" sz="3260" dirty="0">
                <a:solidFill>
                  <a:srgbClr val="000000"/>
                </a:solidFill>
                <a:latin typeface="Jua"/>
                <a:ea typeface="Jua"/>
                <a:cs typeface="Jua"/>
                <a:sym typeface="Jua"/>
              </a:rPr>
              <a:t> proses </a:t>
            </a:r>
            <a:r>
              <a:rPr lang="en-US" sz="3260" dirty="0" err="1">
                <a:solidFill>
                  <a:srgbClr val="000000"/>
                </a:solidFill>
                <a:latin typeface="Jua"/>
                <a:ea typeface="Jua"/>
                <a:cs typeface="Jua"/>
                <a:sym typeface="Jua"/>
              </a:rPr>
              <a:t>belajar</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bukan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bukti</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bahwa</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dirinya</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tidak</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mampu</a:t>
            </a:r>
            <a:r>
              <a:rPr lang="en-US" sz="3260" dirty="0">
                <a:solidFill>
                  <a:srgbClr val="000000"/>
                </a:solidFill>
                <a:latin typeface="Jua"/>
                <a:ea typeface="Jua"/>
                <a:cs typeface="Jua"/>
                <a:sym typeface="Jua"/>
              </a:rPr>
              <a:t>.</a:t>
            </a:r>
          </a:p>
          <a:p>
            <a:pPr marL="703945" lvl="1" indent="-351972" algn="just">
              <a:lnSpc>
                <a:spcPts val="4564"/>
              </a:lnSpc>
              <a:buFont typeface="Arial"/>
              <a:buChar char="•"/>
            </a:pPr>
            <a:r>
              <a:rPr lang="en-US" sz="3260" dirty="0">
                <a:solidFill>
                  <a:srgbClr val="186AB4"/>
                </a:solidFill>
                <a:latin typeface="Jua"/>
                <a:ea typeface="Jua"/>
                <a:cs typeface="Jua"/>
                <a:sym typeface="Jua"/>
              </a:rPr>
              <a:t>Usaha</a:t>
            </a:r>
            <a:r>
              <a:rPr lang="en-US" sz="3260" dirty="0">
                <a:solidFill>
                  <a:srgbClr val="000000"/>
                </a:solidFill>
                <a:latin typeface="Jua"/>
                <a:ea typeface="Jua"/>
                <a:cs typeface="Jua"/>
                <a:sym typeface="Jua"/>
              </a:rPr>
              <a:t>: Usaha </a:t>
            </a:r>
            <a:r>
              <a:rPr lang="en-US" sz="3260" dirty="0" err="1">
                <a:solidFill>
                  <a:srgbClr val="000000"/>
                </a:solidFill>
                <a:latin typeface="Jua"/>
                <a:ea typeface="Jua"/>
                <a:cs typeface="Jua"/>
                <a:sym typeface="Jua"/>
              </a:rPr>
              <a:t>adalah</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cara</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untuk</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meningkatkan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kemampuan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bukan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tanda</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ketidakcerdasan</a:t>
            </a:r>
            <a:r>
              <a:rPr lang="en-US" sz="3260" dirty="0">
                <a:solidFill>
                  <a:srgbClr val="000000"/>
                </a:solidFill>
                <a:latin typeface="Jua"/>
                <a:ea typeface="Jua"/>
                <a:cs typeface="Jua"/>
                <a:sym typeface="Jua"/>
              </a:rPr>
              <a:t>.</a:t>
            </a:r>
          </a:p>
          <a:p>
            <a:pPr marL="703945" lvl="1" indent="-351972" algn="just">
              <a:lnSpc>
                <a:spcPts val="4564"/>
              </a:lnSpc>
              <a:buFont typeface="Arial"/>
              <a:buChar char="•"/>
            </a:pPr>
            <a:r>
              <a:rPr lang="en-US" sz="3260" dirty="0">
                <a:solidFill>
                  <a:srgbClr val="186AB4"/>
                </a:solidFill>
                <a:latin typeface="Jua"/>
                <a:ea typeface="Jua"/>
                <a:cs typeface="Jua"/>
                <a:sym typeface="Jua"/>
              </a:rPr>
              <a:t>Kritik</a:t>
            </a:r>
            <a:r>
              <a:rPr lang="en-US" sz="3260" dirty="0">
                <a:solidFill>
                  <a:srgbClr val="000000"/>
                </a:solidFill>
                <a:latin typeface="Jua"/>
                <a:ea typeface="Jua"/>
                <a:cs typeface="Jua"/>
                <a:sym typeface="Jua"/>
              </a:rPr>
              <a:t>: Kritik </a:t>
            </a:r>
            <a:r>
              <a:rPr lang="en-US" sz="3260" dirty="0" err="1">
                <a:solidFill>
                  <a:srgbClr val="000000"/>
                </a:solidFill>
                <a:latin typeface="Jua"/>
                <a:ea typeface="Jua"/>
                <a:cs typeface="Jua"/>
                <a:sym typeface="Jua"/>
              </a:rPr>
              <a:t>sebagai</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bahan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evaluasi</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untuk</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memperbaiki</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diri</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bukan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sebagai</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serangan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pribadi</a:t>
            </a:r>
            <a:r>
              <a:rPr lang="en-US" sz="3260" dirty="0">
                <a:solidFill>
                  <a:srgbClr val="000000"/>
                </a:solidFill>
                <a:latin typeface="Jua"/>
                <a:ea typeface="Jua"/>
                <a:cs typeface="Jua"/>
                <a:sym typeface="Jua"/>
              </a:rPr>
              <a:t>.</a:t>
            </a:r>
          </a:p>
          <a:p>
            <a:pPr marL="703945" lvl="1" indent="-351972" algn="just">
              <a:lnSpc>
                <a:spcPts val="4564"/>
              </a:lnSpc>
              <a:buFont typeface="Arial"/>
              <a:buChar char="•"/>
            </a:pPr>
            <a:r>
              <a:rPr lang="en-US" sz="3260" dirty="0" err="1">
                <a:solidFill>
                  <a:srgbClr val="186AB4"/>
                </a:solidFill>
                <a:latin typeface="Jua"/>
                <a:ea typeface="Jua"/>
                <a:cs typeface="Jua"/>
                <a:sym typeface="Jua"/>
              </a:rPr>
              <a:t>Kesuksesan</a:t>
            </a:r>
            <a:r>
              <a:rPr lang="en-US" sz="3260" dirty="0">
                <a:solidFill>
                  <a:srgbClr val="186AB4"/>
                </a:solidFill>
                <a:latin typeface="Jua"/>
                <a:ea typeface="Jua"/>
                <a:cs typeface="Jua"/>
                <a:sym typeface="Jua"/>
              </a:rPr>
              <a:t> orang lain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Keberhasilan</a:t>
            </a:r>
            <a:r>
              <a:rPr lang="en-US" sz="3260" dirty="0">
                <a:solidFill>
                  <a:srgbClr val="000000"/>
                </a:solidFill>
                <a:latin typeface="Jua"/>
                <a:ea typeface="Jua"/>
                <a:cs typeface="Jua"/>
                <a:sym typeface="Jua"/>
              </a:rPr>
              <a:t> orang lain </a:t>
            </a:r>
            <a:r>
              <a:rPr lang="en-US" sz="3260" dirty="0" err="1">
                <a:solidFill>
                  <a:srgbClr val="000000"/>
                </a:solidFill>
                <a:latin typeface="Jua"/>
                <a:ea typeface="Jua"/>
                <a:cs typeface="Jua"/>
                <a:sym typeface="Jua"/>
              </a:rPr>
              <a:t>sebagai</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inspirasi</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bukan</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sebagai</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perbandingan</a:t>
            </a:r>
            <a:r>
              <a:rPr lang="en-US" sz="3260" dirty="0">
                <a:solidFill>
                  <a:srgbClr val="000000"/>
                </a:solidFill>
                <a:latin typeface="Jua"/>
                <a:ea typeface="Jua"/>
                <a:cs typeface="Jua"/>
                <a:sym typeface="Jua"/>
              </a:rPr>
              <a:t> yang </a:t>
            </a:r>
            <a:r>
              <a:rPr lang="en-US" sz="3260" dirty="0" err="1">
                <a:solidFill>
                  <a:srgbClr val="000000"/>
                </a:solidFill>
                <a:latin typeface="Jua"/>
                <a:ea typeface="Jua"/>
                <a:cs typeface="Jua"/>
                <a:sym typeface="Jua"/>
              </a:rPr>
              <a:t>membuatnya</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merasa</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tidak</a:t>
            </a:r>
            <a:r>
              <a:rPr lang="en-US" sz="3260" dirty="0">
                <a:solidFill>
                  <a:srgbClr val="000000"/>
                </a:solidFill>
                <a:latin typeface="Jua"/>
                <a:ea typeface="Jua"/>
                <a:cs typeface="Jua"/>
                <a:sym typeface="Jua"/>
              </a:rPr>
              <a:t> </a:t>
            </a:r>
            <a:r>
              <a:rPr lang="en-US" sz="3260" dirty="0" err="1">
                <a:solidFill>
                  <a:srgbClr val="000000"/>
                </a:solidFill>
                <a:latin typeface="Jua"/>
                <a:ea typeface="Jua"/>
                <a:cs typeface="Jua"/>
                <a:sym typeface="Jua"/>
              </a:rPr>
              <a:t>mampu</a:t>
            </a:r>
            <a:r>
              <a:rPr lang="en-US" sz="3260" dirty="0">
                <a:solidFill>
                  <a:srgbClr val="000000"/>
                </a:solidFill>
                <a:latin typeface="Jua"/>
                <a:ea typeface="Jua"/>
                <a:cs typeface="Jua"/>
                <a:sym typeface="Jua"/>
              </a:rPr>
              <a:t>.  </a:t>
            </a:r>
          </a:p>
        </p:txBody>
      </p:sp>
      <p:sp>
        <p:nvSpPr>
          <p:cNvPr id="14" name="Freeform 14"/>
          <p:cNvSpPr/>
          <p:nvPr/>
        </p:nvSpPr>
        <p:spPr>
          <a:xfrm rot="392175">
            <a:off x="1682182" y="539054"/>
            <a:ext cx="5261431" cy="1654959"/>
          </a:xfrm>
          <a:custGeom>
            <a:avLst/>
            <a:gdLst/>
            <a:ahLst/>
            <a:cxnLst/>
            <a:rect l="l" t="t" r="r" b="b"/>
            <a:pathLst>
              <a:path w="5261431" h="1654959">
                <a:moveTo>
                  <a:pt x="0" y="0"/>
                </a:moveTo>
                <a:lnTo>
                  <a:pt x="5261432" y="0"/>
                </a:lnTo>
                <a:lnTo>
                  <a:pt x="5261432" y="1654960"/>
                </a:lnTo>
                <a:lnTo>
                  <a:pt x="0" y="165496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5" name="TextBox 15"/>
          <p:cNvSpPr txBox="1"/>
          <p:nvPr/>
        </p:nvSpPr>
        <p:spPr>
          <a:xfrm rot="377717">
            <a:off x="1657080" y="744234"/>
            <a:ext cx="4922655" cy="1244600"/>
          </a:xfrm>
          <a:prstGeom prst="rect">
            <a:avLst/>
          </a:prstGeom>
        </p:spPr>
        <p:txBody>
          <a:bodyPr lIns="0" tIns="0" rIns="0" bIns="0" rtlCol="0" anchor="t">
            <a:spAutoFit/>
          </a:bodyPr>
          <a:lstStyle/>
          <a:p>
            <a:pPr marL="0" lvl="0" indent="0" algn="ctr">
              <a:lnSpc>
                <a:spcPts val="3040"/>
              </a:lnSpc>
              <a:spcBef>
                <a:spcPct val="0"/>
              </a:spcBef>
            </a:pPr>
            <a:r>
              <a:rPr lang="en-US" sz="3200" dirty="0" err="1">
                <a:solidFill>
                  <a:srgbClr val="292929"/>
                </a:solidFill>
                <a:latin typeface="Jua"/>
                <a:ea typeface="Jua"/>
                <a:cs typeface="Jua"/>
                <a:sym typeface="Jua"/>
              </a:rPr>
              <a:t>Prinsip</a:t>
            </a:r>
            <a:r>
              <a:rPr lang="en-US" sz="3200" dirty="0">
                <a:solidFill>
                  <a:srgbClr val="292929"/>
                </a:solidFill>
                <a:latin typeface="Jua"/>
                <a:ea typeface="Jua"/>
                <a:cs typeface="Jua"/>
                <a:sym typeface="Jua"/>
              </a:rPr>
              <a:t> growth mindset </a:t>
            </a:r>
            <a:r>
              <a:rPr lang="en-US" sz="3200" dirty="0" err="1">
                <a:solidFill>
                  <a:srgbClr val="292929"/>
                </a:solidFill>
                <a:latin typeface="Jua"/>
                <a:ea typeface="Jua"/>
                <a:cs typeface="Jua"/>
                <a:sym typeface="Jua"/>
              </a:rPr>
              <a:t>untuk</a:t>
            </a:r>
            <a:r>
              <a:rPr lang="en-US" sz="3200" dirty="0">
                <a:solidFill>
                  <a:srgbClr val="292929"/>
                </a:solidFill>
                <a:latin typeface="Jua"/>
                <a:ea typeface="Jua"/>
                <a:cs typeface="Jua"/>
                <a:sym typeface="Jua"/>
              </a:rPr>
              <a:t> </a:t>
            </a:r>
            <a:r>
              <a:rPr lang="en-US" sz="3200" dirty="0" err="1">
                <a:solidFill>
                  <a:srgbClr val="292929"/>
                </a:solidFill>
                <a:latin typeface="Jua"/>
                <a:ea typeface="Jua"/>
                <a:cs typeface="Jua"/>
                <a:sym typeface="Jua"/>
              </a:rPr>
              <a:t>mengubah</a:t>
            </a:r>
            <a:r>
              <a:rPr lang="en-US" sz="3200" dirty="0">
                <a:solidFill>
                  <a:srgbClr val="292929"/>
                </a:solidFill>
                <a:latin typeface="Jua"/>
                <a:ea typeface="Jua"/>
                <a:cs typeface="Jua"/>
                <a:sym typeface="Jua"/>
              </a:rPr>
              <a:t> </a:t>
            </a:r>
            <a:r>
              <a:rPr lang="en-US" sz="3200" dirty="0" err="1">
                <a:solidFill>
                  <a:srgbClr val="292929"/>
                </a:solidFill>
                <a:latin typeface="Jua"/>
                <a:ea typeface="Jua"/>
                <a:cs typeface="Jua"/>
                <a:sym typeface="Jua"/>
              </a:rPr>
              <a:t>pola</a:t>
            </a:r>
            <a:r>
              <a:rPr lang="en-US" sz="3200" dirty="0">
                <a:solidFill>
                  <a:srgbClr val="292929"/>
                </a:solidFill>
                <a:latin typeface="Jua"/>
                <a:ea typeface="Jua"/>
                <a:cs typeface="Jua"/>
                <a:sym typeface="Jua"/>
              </a:rPr>
              <a:t> </a:t>
            </a:r>
            <a:r>
              <a:rPr lang="en-US" sz="3200" dirty="0" err="1">
                <a:solidFill>
                  <a:srgbClr val="292929"/>
                </a:solidFill>
                <a:latin typeface="Jua"/>
                <a:ea typeface="Jua"/>
                <a:cs typeface="Jua"/>
                <a:sym typeface="Jua"/>
              </a:rPr>
              <a:t>pikir</a:t>
            </a:r>
            <a:r>
              <a:rPr lang="en-US" sz="3200" dirty="0">
                <a:solidFill>
                  <a:srgbClr val="292929"/>
                </a:solidFill>
                <a:latin typeface="Jua"/>
                <a:ea typeface="Jua"/>
                <a:cs typeface="Jua"/>
                <a:sym typeface="Jua"/>
              </a:rPr>
              <a:t> Dian </a:t>
            </a:r>
          </a:p>
        </p:txBody>
      </p:sp>
      <p:sp>
        <p:nvSpPr>
          <p:cNvPr id="16" name="Freeform 16"/>
          <p:cNvSpPr/>
          <p:nvPr/>
        </p:nvSpPr>
        <p:spPr>
          <a:xfrm>
            <a:off x="14976342" y="173736"/>
            <a:ext cx="3311658" cy="627613"/>
          </a:xfrm>
          <a:custGeom>
            <a:avLst/>
            <a:gdLst/>
            <a:ahLst/>
            <a:cxnLst/>
            <a:rect l="l" t="t" r="r" b="b"/>
            <a:pathLst>
              <a:path w="3311658" h="627613">
                <a:moveTo>
                  <a:pt x="0" y="0"/>
                </a:moveTo>
                <a:lnTo>
                  <a:pt x="3311658" y="0"/>
                </a:lnTo>
                <a:lnTo>
                  <a:pt x="3311658" y="627613"/>
                </a:lnTo>
                <a:lnTo>
                  <a:pt x="0" y="627613"/>
                </a:lnTo>
                <a:lnTo>
                  <a:pt x="0" y="0"/>
                </a:lnTo>
                <a:close/>
              </a:path>
            </a:pathLst>
          </a:custGeom>
          <a:blipFill>
            <a:blip r:embed="rId10"/>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D" dirty="0"/>
          </a:p>
        </p:txBody>
      </p:sp>
      <p:sp>
        <p:nvSpPr>
          <p:cNvPr id="3" name="Freeform 3"/>
          <p:cNvSpPr/>
          <p:nvPr/>
        </p:nvSpPr>
        <p:spPr>
          <a:xfrm rot="-1503136">
            <a:off x="6573766" y="5749706"/>
            <a:ext cx="2332965" cy="2323245"/>
          </a:xfrm>
          <a:custGeom>
            <a:avLst/>
            <a:gdLst/>
            <a:ahLst/>
            <a:cxnLst/>
            <a:rect l="l" t="t" r="r" b="b"/>
            <a:pathLst>
              <a:path w="2332965" h="2323245">
                <a:moveTo>
                  <a:pt x="0" y="0"/>
                </a:moveTo>
                <a:lnTo>
                  <a:pt x="2332965" y="0"/>
                </a:lnTo>
                <a:lnTo>
                  <a:pt x="2332965" y="2323245"/>
                </a:lnTo>
                <a:lnTo>
                  <a:pt x="0" y="2323245"/>
                </a:lnTo>
                <a:lnTo>
                  <a:pt x="0" y="0"/>
                </a:lnTo>
                <a:close/>
              </a:path>
            </a:pathLst>
          </a:custGeom>
          <a:blipFill>
            <a:blip r:embed="rId3"/>
            <a:stretch>
              <a:fillRect/>
            </a:stretch>
          </a:blipFill>
        </p:spPr>
      </p:sp>
      <p:sp>
        <p:nvSpPr>
          <p:cNvPr id="4" name="Freeform 4"/>
          <p:cNvSpPr/>
          <p:nvPr/>
        </p:nvSpPr>
        <p:spPr>
          <a:xfrm flipH="1">
            <a:off x="16969520" y="7497187"/>
            <a:ext cx="3991176" cy="3364229"/>
          </a:xfrm>
          <a:custGeom>
            <a:avLst/>
            <a:gdLst/>
            <a:ahLst/>
            <a:cxnLst/>
            <a:rect l="l" t="t" r="r" b="b"/>
            <a:pathLst>
              <a:path w="3991176" h="3364229">
                <a:moveTo>
                  <a:pt x="3991175" y="0"/>
                </a:moveTo>
                <a:lnTo>
                  <a:pt x="0" y="0"/>
                </a:lnTo>
                <a:lnTo>
                  <a:pt x="0" y="3364228"/>
                </a:lnTo>
                <a:lnTo>
                  <a:pt x="3991175" y="3364228"/>
                </a:lnTo>
                <a:lnTo>
                  <a:pt x="3991175" y="0"/>
                </a:lnTo>
                <a:close/>
              </a:path>
            </a:pathLst>
          </a:custGeom>
          <a:blipFill>
            <a:blip r:embed="rId4"/>
            <a:stretch>
              <a:fillRect/>
            </a:stretch>
          </a:blipFill>
        </p:spPr>
      </p:sp>
      <p:grpSp>
        <p:nvGrpSpPr>
          <p:cNvPr id="5" name="Group 5"/>
          <p:cNvGrpSpPr/>
          <p:nvPr/>
        </p:nvGrpSpPr>
        <p:grpSpPr>
          <a:xfrm>
            <a:off x="12762199" y="3615548"/>
            <a:ext cx="5476069" cy="6394771"/>
            <a:chOff x="0" y="0"/>
            <a:chExt cx="1442257" cy="1684220"/>
          </a:xfrm>
        </p:grpSpPr>
        <p:sp>
          <p:nvSpPr>
            <p:cNvPr id="6" name="Freeform 6"/>
            <p:cNvSpPr/>
            <p:nvPr/>
          </p:nvSpPr>
          <p:spPr>
            <a:xfrm>
              <a:off x="0" y="0"/>
              <a:ext cx="1442257" cy="1684220"/>
            </a:xfrm>
            <a:custGeom>
              <a:avLst/>
              <a:gdLst/>
              <a:ahLst/>
              <a:cxnLst/>
              <a:rect l="l" t="t" r="r" b="b"/>
              <a:pathLst>
                <a:path w="1442257" h="1684220">
                  <a:moveTo>
                    <a:pt x="28275" y="0"/>
                  </a:moveTo>
                  <a:lnTo>
                    <a:pt x="1413982" y="0"/>
                  </a:lnTo>
                  <a:cubicBezTo>
                    <a:pt x="1429598" y="0"/>
                    <a:pt x="1442257" y="12659"/>
                    <a:pt x="1442257" y="28275"/>
                  </a:cubicBezTo>
                  <a:lnTo>
                    <a:pt x="1442257" y="1655944"/>
                  </a:lnTo>
                  <a:cubicBezTo>
                    <a:pt x="1442257" y="1671560"/>
                    <a:pt x="1429598" y="1684220"/>
                    <a:pt x="1413982" y="1684220"/>
                  </a:cubicBezTo>
                  <a:lnTo>
                    <a:pt x="28275" y="1684220"/>
                  </a:lnTo>
                  <a:cubicBezTo>
                    <a:pt x="12659" y="1684220"/>
                    <a:pt x="0" y="1671560"/>
                    <a:pt x="0" y="1655944"/>
                  </a:cubicBezTo>
                  <a:lnTo>
                    <a:pt x="0" y="28275"/>
                  </a:lnTo>
                  <a:cubicBezTo>
                    <a:pt x="0" y="12659"/>
                    <a:pt x="12659" y="0"/>
                    <a:pt x="28275" y="0"/>
                  </a:cubicBezTo>
                  <a:close/>
                </a:path>
              </a:pathLst>
            </a:custGeom>
            <a:solidFill>
              <a:srgbClr val="FFF0E1"/>
            </a:solidFill>
            <a:ln w="19050" cap="sq">
              <a:solidFill>
                <a:srgbClr val="000000"/>
              </a:solidFill>
              <a:prstDash val="solid"/>
              <a:miter/>
            </a:ln>
          </p:spPr>
        </p:sp>
        <p:sp>
          <p:nvSpPr>
            <p:cNvPr id="7" name="TextBox 7"/>
            <p:cNvSpPr txBox="1"/>
            <p:nvPr/>
          </p:nvSpPr>
          <p:spPr>
            <a:xfrm>
              <a:off x="0" y="-76200"/>
              <a:ext cx="1442257" cy="176042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721600" y="-2691359"/>
            <a:ext cx="19738690" cy="3954651"/>
          </a:xfrm>
          <a:custGeom>
            <a:avLst/>
            <a:gdLst/>
            <a:ahLst/>
            <a:cxnLst/>
            <a:rect l="l" t="t" r="r" b="b"/>
            <a:pathLst>
              <a:path w="19738690" h="3954651">
                <a:moveTo>
                  <a:pt x="0" y="0"/>
                </a:moveTo>
                <a:lnTo>
                  <a:pt x="19738691" y="0"/>
                </a:lnTo>
                <a:lnTo>
                  <a:pt x="19738691" y="3954651"/>
                </a:lnTo>
                <a:lnTo>
                  <a:pt x="0" y="3954651"/>
                </a:lnTo>
                <a:lnTo>
                  <a:pt x="0" y="0"/>
                </a:lnTo>
                <a:close/>
              </a:path>
            </a:pathLst>
          </a:custGeom>
          <a:blipFill>
            <a:blip r:embed="rId5"/>
            <a:stretch>
              <a:fillRect t="-74885" b="-74885"/>
            </a:stretch>
          </a:blipFill>
        </p:spPr>
      </p:sp>
      <p:grpSp>
        <p:nvGrpSpPr>
          <p:cNvPr id="9" name="Group 9"/>
          <p:cNvGrpSpPr/>
          <p:nvPr/>
        </p:nvGrpSpPr>
        <p:grpSpPr>
          <a:xfrm>
            <a:off x="3611890" y="337941"/>
            <a:ext cx="12203500" cy="3122004"/>
            <a:chOff x="0" y="0"/>
            <a:chExt cx="3214091" cy="822256"/>
          </a:xfrm>
        </p:grpSpPr>
        <p:sp>
          <p:nvSpPr>
            <p:cNvPr id="10" name="Freeform 10"/>
            <p:cNvSpPr/>
            <p:nvPr/>
          </p:nvSpPr>
          <p:spPr>
            <a:xfrm>
              <a:off x="0" y="0"/>
              <a:ext cx="3214091" cy="822256"/>
            </a:xfrm>
            <a:custGeom>
              <a:avLst/>
              <a:gdLst/>
              <a:ahLst/>
              <a:cxnLst/>
              <a:rect l="l" t="t" r="r" b="b"/>
              <a:pathLst>
                <a:path w="3214091" h="822256">
                  <a:moveTo>
                    <a:pt x="12688" y="0"/>
                  </a:moveTo>
                  <a:lnTo>
                    <a:pt x="3201403" y="0"/>
                  </a:lnTo>
                  <a:cubicBezTo>
                    <a:pt x="3204768" y="0"/>
                    <a:pt x="3207995" y="1337"/>
                    <a:pt x="3210374" y="3716"/>
                  </a:cubicBezTo>
                  <a:cubicBezTo>
                    <a:pt x="3212754" y="6096"/>
                    <a:pt x="3214091" y="9323"/>
                    <a:pt x="3214091" y="12688"/>
                  </a:cubicBezTo>
                  <a:lnTo>
                    <a:pt x="3214091" y="809568"/>
                  </a:lnTo>
                  <a:cubicBezTo>
                    <a:pt x="3214091" y="812933"/>
                    <a:pt x="3212754" y="816160"/>
                    <a:pt x="3210374" y="818540"/>
                  </a:cubicBezTo>
                  <a:cubicBezTo>
                    <a:pt x="3207995" y="820919"/>
                    <a:pt x="3204768" y="822256"/>
                    <a:pt x="3201403" y="822256"/>
                  </a:cubicBezTo>
                  <a:lnTo>
                    <a:pt x="12688" y="822256"/>
                  </a:lnTo>
                  <a:cubicBezTo>
                    <a:pt x="9323" y="822256"/>
                    <a:pt x="6096" y="820919"/>
                    <a:pt x="3716" y="818540"/>
                  </a:cubicBezTo>
                  <a:cubicBezTo>
                    <a:pt x="1337" y="816160"/>
                    <a:pt x="0" y="812933"/>
                    <a:pt x="0" y="809568"/>
                  </a:cubicBezTo>
                  <a:lnTo>
                    <a:pt x="0" y="12688"/>
                  </a:lnTo>
                  <a:cubicBezTo>
                    <a:pt x="0" y="9323"/>
                    <a:pt x="1337" y="6096"/>
                    <a:pt x="3716" y="3716"/>
                  </a:cubicBezTo>
                  <a:cubicBezTo>
                    <a:pt x="6096" y="1337"/>
                    <a:pt x="9323" y="0"/>
                    <a:pt x="12688" y="0"/>
                  </a:cubicBezTo>
                  <a:close/>
                </a:path>
              </a:pathLst>
            </a:custGeom>
            <a:solidFill>
              <a:srgbClr val="FFF0E1"/>
            </a:solidFill>
            <a:ln w="19050" cap="sq">
              <a:solidFill>
                <a:srgbClr val="000000"/>
              </a:solidFill>
              <a:prstDash val="solid"/>
              <a:miter/>
            </a:ln>
          </p:spPr>
        </p:sp>
        <p:sp>
          <p:nvSpPr>
            <p:cNvPr id="11" name="TextBox 11"/>
            <p:cNvSpPr txBox="1"/>
            <p:nvPr/>
          </p:nvSpPr>
          <p:spPr>
            <a:xfrm>
              <a:off x="0" y="-76200"/>
              <a:ext cx="3214091" cy="898456"/>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649166" y="9446527"/>
            <a:ext cx="2330904" cy="2197269"/>
          </a:xfrm>
          <a:custGeom>
            <a:avLst/>
            <a:gdLst/>
            <a:ahLst/>
            <a:cxnLst/>
            <a:rect l="l" t="t" r="r" b="b"/>
            <a:pathLst>
              <a:path w="2330904" h="2197269">
                <a:moveTo>
                  <a:pt x="0" y="0"/>
                </a:moveTo>
                <a:lnTo>
                  <a:pt x="2330904" y="0"/>
                </a:lnTo>
                <a:lnTo>
                  <a:pt x="2330904" y="2197269"/>
                </a:lnTo>
                <a:lnTo>
                  <a:pt x="0" y="2197269"/>
                </a:lnTo>
                <a:lnTo>
                  <a:pt x="0" y="0"/>
                </a:lnTo>
                <a:close/>
              </a:path>
            </a:pathLst>
          </a:custGeom>
          <a:blipFill>
            <a:blip r:embed="rId6"/>
            <a:stretch>
              <a:fillRect/>
            </a:stretch>
          </a:blipFill>
        </p:spPr>
      </p:sp>
      <p:sp>
        <p:nvSpPr>
          <p:cNvPr id="13" name="Freeform 13"/>
          <p:cNvSpPr/>
          <p:nvPr/>
        </p:nvSpPr>
        <p:spPr>
          <a:xfrm>
            <a:off x="-2672695" y="7497187"/>
            <a:ext cx="3991176" cy="3364229"/>
          </a:xfrm>
          <a:custGeom>
            <a:avLst/>
            <a:gdLst/>
            <a:ahLst/>
            <a:cxnLst/>
            <a:rect l="l" t="t" r="r" b="b"/>
            <a:pathLst>
              <a:path w="3991176" h="3364229">
                <a:moveTo>
                  <a:pt x="0" y="0"/>
                </a:moveTo>
                <a:lnTo>
                  <a:pt x="3991175" y="0"/>
                </a:lnTo>
                <a:lnTo>
                  <a:pt x="3991175" y="3364228"/>
                </a:lnTo>
                <a:lnTo>
                  <a:pt x="0" y="3364228"/>
                </a:lnTo>
                <a:lnTo>
                  <a:pt x="0" y="0"/>
                </a:lnTo>
                <a:close/>
              </a:path>
            </a:pathLst>
          </a:custGeom>
          <a:blipFill>
            <a:blip r:embed="rId4"/>
            <a:stretch>
              <a:fillRect/>
            </a:stretch>
          </a:blipFill>
        </p:spPr>
      </p:sp>
      <p:grpSp>
        <p:nvGrpSpPr>
          <p:cNvPr id="14" name="Group 14"/>
          <p:cNvGrpSpPr/>
          <p:nvPr/>
        </p:nvGrpSpPr>
        <p:grpSpPr>
          <a:xfrm>
            <a:off x="649166" y="3641932"/>
            <a:ext cx="4891519" cy="6368388"/>
            <a:chOff x="0" y="0"/>
            <a:chExt cx="1288301" cy="1677271"/>
          </a:xfrm>
        </p:grpSpPr>
        <p:sp>
          <p:nvSpPr>
            <p:cNvPr id="15" name="Freeform 15"/>
            <p:cNvSpPr/>
            <p:nvPr/>
          </p:nvSpPr>
          <p:spPr>
            <a:xfrm>
              <a:off x="0" y="0"/>
              <a:ext cx="1288301" cy="1677271"/>
            </a:xfrm>
            <a:custGeom>
              <a:avLst/>
              <a:gdLst/>
              <a:ahLst/>
              <a:cxnLst/>
              <a:rect l="l" t="t" r="r" b="b"/>
              <a:pathLst>
                <a:path w="1288301" h="1677271">
                  <a:moveTo>
                    <a:pt x="31654" y="0"/>
                  </a:moveTo>
                  <a:lnTo>
                    <a:pt x="1256647" y="0"/>
                  </a:lnTo>
                  <a:cubicBezTo>
                    <a:pt x="1265042" y="0"/>
                    <a:pt x="1273094" y="3335"/>
                    <a:pt x="1279030" y="9271"/>
                  </a:cubicBezTo>
                  <a:cubicBezTo>
                    <a:pt x="1284966" y="15208"/>
                    <a:pt x="1288301" y="23259"/>
                    <a:pt x="1288301" y="31654"/>
                  </a:cubicBezTo>
                  <a:lnTo>
                    <a:pt x="1288301" y="1645616"/>
                  </a:lnTo>
                  <a:cubicBezTo>
                    <a:pt x="1288301" y="1654012"/>
                    <a:pt x="1284966" y="1662063"/>
                    <a:pt x="1279030" y="1668000"/>
                  </a:cubicBezTo>
                  <a:cubicBezTo>
                    <a:pt x="1273094" y="1673936"/>
                    <a:pt x="1265042" y="1677271"/>
                    <a:pt x="1256647" y="1677271"/>
                  </a:cubicBezTo>
                  <a:lnTo>
                    <a:pt x="31654" y="1677271"/>
                  </a:lnTo>
                  <a:cubicBezTo>
                    <a:pt x="23259" y="1677271"/>
                    <a:pt x="15208" y="1673936"/>
                    <a:pt x="9271" y="1668000"/>
                  </a:cubicBezTo>
                  <a:cubicBezTo>
                    <a:pt x="3335" y="1662063"/>
                    <a:pt x="0" y="1654012"/>
                    <a:pt x="0" y="1645616"/>
                  </a:cubicBezTo>
                  <a:lnTo>
                    <a:pt x="0" y="31654"/>
                  </a:lnTo>
                  <a:cubicBezTo>
                    <a:pt x="0" y="23259"/>
                    <a:pt x="3335" y="15208"/>
                    <a:pt x="9271" y="9271"/>
                  </a:cubicBezTo>
                  <a:cubicBezTo>
                    <a:pt x="15208" y="3335"/>
                    <a:pt x="23259" y="0"/>
                    <a:pt x="31654" y="0"/>
                  </a:cubicBezTo>
                  <a:close/>
                </a:path>
              </a:pathLst>
            </a:custGeom>
            <a:solidFill>
              <a:srgbClr val="FFF0E1"/>
            </a:solidFill>
            <a:ln w="19050" cap="sq">
              <a:solidFill>
                <a:srgbClr val="000000"/>
              </a:solidFill>
              <a:prstDash val="solid"/>
              <a:miter/>
            </a:ln>
          </p:spPr>
        </p:sp>
        <p:sp>
          <p:nvSpPr>
            <p:cNvPr id="16" name="TextBox 16"/>
            <p:cNvSpPr txBox="1"/>
            <p:nvPr/>
          </p:nvSpPr>
          <p:spPr>
            <a:xfrm>
              <a:off x="0" y="-76200"/>
              <a:ext cx="1288301" cy="1753471"/>
            </a:xfrm>
            <a:prstGeom prst="rect">
              <a:avLst/>
            </a:prstGeom>
          </p:spPr>
          <p:txBody>
            <a:bodyPr lIns="50800" tIns="50800" rIns="50800" bIns="50800" rtlCol="0" anchor="ctr"/>
            <a:lstStyle/>
            <a:p>
              <a:pPr algn="ctr">
                <a:lnSpc>
                  <a:spcPts val="2659"/>
                </a:lnSpc>
                <a:spcBef>
                  <a:spcPct val="0"/>
                </a:spcBef>
              </a:pPr>
              <a:endParaRPr/>
            </a:p>
          </p:txBody>
        </p:sp>
      </p:grpSp>
      <p:sp>
        <p:nvSpPr>
          <p:cNvPr id="17" name="Freeform 17"/>
          <p:cNvSpPr/>
          <p:nvPr/>
        </p:nvSpPr>
        <p:spPr>
          <a:xfrm>
            <a:off x="17014820" y="1914275"/>
            <a:ext cx="1152777" cy="1113871"/>
          </a:xfrm>
          <a:custGeom>
            <a:avLst/>
            <a:gdLst/>
            <a:ahLst/>
            <a:cxnLst/>
            <a:rect l="l" t="t" r="r" b="b"/>
            <a:pathLst>
              <a:path w="1152777" h="1113871">
                <a:moveTo>
                  <a:pt x="0" y="0"/>
                </a:moveTo>
                <a:lnTo>
                  <a:pt x="1152777" y="0"/>
                </a:lnTo>
                <a:lnTo>
                  <a:pt x="1152777" y="1113870"/>
                </a:lnTo>
                <a:lnTo>
                  <a:pt x="0" y="1113870"/>
                </a:lnTo>
                <a:lnTo>
                  <a:pt x="0" y="0"/>
                </a:lnTo>
                <a:close/>
              </a:path>
            </a:pathLst>
          </a:custGeom>
          <a:blipFill>
            <a:blip r:embed="rId7"/>
            <a:stretch>
              <a:fillRect/>
            </a:stretch>
          </a:blipFill>
        </p:spPr>
      </p:sp>
      <p:sp>
        <p:nvSpPr>
          <p:cNvPr id="18" name="Freeform 18"/>
          <p:cNvSpPr/>
          <p:nvPr/>
        </p:nvSpPr>
        <p:spPr>
          <a:xfrm flipH="1">
            <a:off x="4742334" y="3650735"/>
            <a:ext cx="1152777" cy="1113871"/>
          </a:xfrm>
          <a:custGeom>
            <a:avLst/>
            <a:gdLst/>
            <a:ahLst/>
            <a:cxnLst/>
            <a:rect l="l" t="t" r="r" b="b"/>
            <a:pathLst>
              <a:path w="1152777" h="1113871">
                <a:moveTo>
                  <a:pt x="1152777" y="0"/>
                </a:moveTo>
                <a:lnTo>
                  <a:pt x="0" y="0"/>
                </a:lnTo>
                <a:lnTo>
                  <a:pt x="0" y="1113870"/>
                </a:lnTo>
                <a:lnTo>
                  <a:pt x="1152777" y="1113870"/>
                </a:lnTo>
                <a:lnTo>
                  <a:pt x="1152777" y="0"/>
                </a:lnTo>
                <a:close/>
              </a:path>
            </a:pathLst>
          </a:custGeom>
          <a:blipFill>
            <a:blip r:embed="rId7"/>
            <a:stretch>
              <a:fillRect/>
            </a:stretch>
          </a:blipFill>
        </p:spPr>
      </p:sp>
      <p:sp>
        <p:nvSpPr>
          <p:cNvPr id="19" name="Freeform 19"/>
          <p:cNvSpPr/>
          <p:nvPr/>
        </p:nvSpPr>
        <p:spPr>
          <a:xfrm>
            <a:off x="10642898" y="7154951"/>
            <a:ext cx="885093" cy="684472"/>
          </a:xfrm>
          <a:custGeom>
            <a:avLst/>
            <a:gdLst/>
            <a:ahLst/>
            <a:cxnLst/>
            <a:rect l="l" t="t" r="r" b="b"/>
            <a:pathLst>
              <a:path w="885093" h="684472">
                <a:moveTo>
                  <a:pt x="0" y="0"/>
                </a:moveTo>
                <a:lnTo>
                  <a:pt x="885093" y="0"/>
                </a:lnTo>
                <a:lnTo>
                  <a:pt x="885093" y="684472"/>
                </a:lnTo>
                <a:lnTo>
                  <a:pt x="0" y="684472"/>
                </a:lnTo>
                <a:lnTo>
                  <a:pt x="0" y="0"/>
                </a:lnTo>
                <a:close/>
              </a:path>
            </a:pathLst>
          </a:custGeom>
          <a:blipFill>
            <a:blip r:embed="rId8"/>
            <a:stretch>
              <a:fillRect/>
            </a:stretch>
          </a:blipFill>
        </p:spPr>
      </p:sp>
      <p:sp>
        <p:nvSpPr>
          <p:cNvPr id="20" name="Freeform 20"/>
          <p:cNvSpPr/>
          <p:nvPr/>
        </p:nvSpPr>
        <p:spPr>
          <a:xfrm rot="5482446">
            <a:off x="4035649" y="2667083"/>
            <a:ext cx="885093" cy="684472"/>
          </a:xfrm>
          <a:custGeom>
            <a:avLst/>
            <a:gdLst/>
            <a:ahLst/>
            <a:cxnLst/>
            <a:rect l="l" t="t" r="r" b="b"/>
            <a:pathLst>
              <a:path w="885093" h="684472">
                <a:moveTo>
                  <a:pt x="0" y="0"/>
                </a:moveTo>
                <a:lnTo>
                  <a:pt x="885093" y="0"/>
                </a:lnTo>
                <a:lnTo>
                  <a:pt x="885093" y="684472"/>
                </a:lnTo>
                <a:lnTo>
                  <a:pt x="0" y="684472"/>
                </a:lnTo>
                <a:lnTo>
                  <a:pt x="0" y="0"/>
                </a:lnTo>
                <a:close/>
              </a:path>
            </a:pathLst>
          </a:custGeom>
          <a:blipFill>
            <a:blip r:embed="rId8"/>
            <a:stretch>
              <a:fillRect/>
            </a:stretch>
          </a:blipFill>
        </p:spPr>
      </p:sp>
      <p:sp>
        <p:nvSpPr>
          <p:cNvPr id="21" name="Freeform 21"/>
          <p:cNvSpPr/>
          <p:nvPr/>
        </p:nvSpPr>
        <p:spPr>
          <a:xfrm flipH="1">
            <a:off x="15260305" y="9446527"/>
            <a:ext cx="2330904" cy="2197269"/>
          </a:xfrm>
          <a:custGeom>
            <a:avLst/>
            <a:gdLst/>
            <a:ahLst/>
            <a:cxnLst/>
            <a:rect l="l" t="t" r="r" b="b"/>
            <a:pathLst>
              <a:path w="2330904" h="2197269">
                <a:moveTo>
                  <a:pt x="2330904" y="0"/>
                </a:moveTo>
                <a:lnTo>
                  <a:pt x="0" y="0"/>
                </a:lnTo>
                <a:lnTo>
                  <a:pt x="0" y="2197269"/>
                </a:lnTo>
                <a:lnTo>
                  <a:pt x="2330904" y="2197269"/>
                </a:lnTo>
                <a:lnTo>
                  <a:pt x="2330904" y="0"/>
                </a:lnTo>
                <a:close/>
              </a:path>
            </a:pathLst>
          </a:custGeom>
          <a:blipFill>
            <a:blip r:embed="rId6"/>
            <a:stretch>
              <a:fillRect/>
            </a:stretch>
          </a:blipFill>
        </p:spPr>
      </p:sp>
      <p:sp>
        <p:nvSpPr>
          <p:cNvPr id="22" name="TextBox 22"/>
          <p:cNvSpPr txBox="1"/>
          <p:nvPr/>
        </p:nvSpPr>
        <p:spPr>
          <a:xfrm>
            <a:off x="13023416" y="4384687"/>
            <a:ext cx="4786503" cy="5491887"/>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000000"/>
                </a:solidFill>
                <a:latin typeface="Jua"/>
                <a:ea typeface="Jua"/>
                <a:cs typeface="Jua"/>
                <a:sym typeface="Jua"/>
              </a:rPr>
              <a:t>Memberi gambaran seseorang yang gagal tetapi terus berusaha hingga sukses </a:t>
            </a:r>
          </a:p>
          <a:p>
            <a:pPr marL="518160" lvl="1" indent="-259080" algn="l">
              <a:lnSpc>
                <a:spcPts val="3359"/>
              </a:lnSpc>
              <a:buFont typeface="Arial"/>
              <a:buChar char="•"/>
            </a:pPr>
            <a:r>
              <a:rPr lang="en-US" sz="2400">
                <a:solidFill>
                  <a:srgbClr val="000000"/>
                </a:solidFill>
                <a:latin typeface="Jua"/>
                <a:ea typeface="Jua"/>
                <a:cs typeface="Jua"/>
                <a:sym typeface="Jua"/>
              </a:rPr>
              <a:t>LKPD berbasis pemecahan masalah (Liveworksheets)</a:t>
            </a:r>
          </a:p>
          <a:p>
            <a:pPr marL="518160" lvl="1" indent="-259080" algn="l">
              <a:lnSpc>
                <a:spcPts val="3359"/>
              </a:lnSpc>
              <a:buFont typeface="Arial"/>
              <a:buChar char="•"/>
            </a:pPr>
            <a:r>
              <a:rPr lang="en-US" sz="2400">
                <a:solidFill>
                  <a:srgbClr val="000000"/>
                </a:solidFill>
                <a:latin typeface="Jua"/>
                <a:ea typeface="Jua"/>
                <a:cs typeface="Jua"/>
                <a:sym typeface="Jua"/>
              </a:rPr>
              <a:t>Quiz untuk mengetahui pemahaman awal dan akhir siswa (Quizizz).</a:t>
            </a:r>
          </a:p>
          <a:p>
            <a:pPr marL="518160" lvl="1" indent="-259080" algn="l">
              <a:lnSpc>
                <a:spcPts val="3359"/>
              </a:lnSpc>
              <a:buFont typeface="Arial"/>
              <a:buChar char="•"/>
            </a:pPr>
            <a:r>
              <a:rPr lang="en-US" sz="2400">
                <a:solidFill>
                  <a:srgbClr val="000000"/>
                </a:solidFill>
                <a:latin typeface="Jua"/>
                <a:ea typeface="Jua"/>
                <a:cs typeface="Jua"/>
                <a:sym typeface="Jua"/>
              </a:rPr>
              <a:t>Refleksi diri (Google form, mentimeter)</a:t>
            </a:r>
          </a:p>
          <a:p>
            <a:pPr marL="518160" lvl="1" indent="-259080" algn="l">
              <a:lnSpc>
                <a:spcPts val="3359"/>
              </a:lnSpc>
              <a:buFont typeface="Arial"/>
              <a:buChar char="•"/>
            </a:pPr>
            <a:r>
              <a:rPr lang="en-US" sz="2400">
                <a:solidFill>
                  <a:srgbClr val="000000"/>
                </a:solidFill>
                <a:latin typeface="Jua"/>
                <a:ea typeface="Jua"/>
                <a:cs typeface="Jua"/>
                <a:sym typeface="Jua"/>
              </a:rPr>
              <a:t>Rubrik analitik growth mindset (checklist proses belajar, rubrik before-after)</a:t>
            </a:r>
          </a:p>
        </p:txBody>
      </p:sp>
      <p:sp>
        <p:nvSpPr>
          <p:cNvPr id="23" name="Freeform 23"/>
          <p:cNvSpPr/>
          <p:nvPr/>
        </p:nvSpPr>
        <p:spPr>
          <a:xfrm rot="4065453">
            <a:off x="8451192" y="3759761"/>
            <a:ext cx="1804658" cy="1838077"/>
          </a:xfrm>
          <a:custGeom>
            <a:avLst/>
            <a:gdLst/>
            <a:ahLst/>
            <a:cxnLst/>
            <a:rect l="l" t="t" r="r" b="b"/>
            <a:pathLst>
              <a:path w="1804658" h="1838077">
                <a:moveTo>
                  <a:pt x="0" y="0"/>
                </a:moveTo>
                <a:lnTo>
                  <a:pt x="1804658" y="0"/>
                </a:lnTo>
                <a:lnTo>
                  <a:pt x="1804658" y="1838077"/>
                </a:lnTo>
                <a:lnTo>
                  <a:pt x="0" y="18380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4" name="TextBox 24"/>
          <p:cNvSpPr txBox="1"/>
          <p:nvPr/>
        </p:nvSpPr>
        <p:spPr>
          <a:xfrm>
            <a:off x="5342773" y="4066713"/>
            <a:ext cx="7801794" cy="2270070"/>
          </a:xfrm>
          <a:prstGeom prst="rect">
            <a:avLst/>
          </a:prstGeom>
        </p:spPr>
        <p:txBody>
          <a:bodyPr lIns="0" tIns="0" rIns="0" bIns="0" rtlCol="0" anchor="t">
            <a:spAutoFit/>
          </a:bodyPr>
          <a:lstStyle/>
          <a:p>
            <a:pPr algn="ctr">
              <a:lnSpc>
                <a:spcPts val="9000"/>
              </a:lnSpc>
            </a:pPr>
            <a:r>
              <a:rPr lang="en-US" sz="9000" spc="630" dirty="0">
                <a:solidFill>
                  <a:srgbClr val="254C9B"/>
                </a:solidFill>
                <a:latin typeface="Jua"/>
                <a:ea typeface="Jua"/>
                <a:cs typeface="Jua"/>
                <a:sym typeface="Jua"/>
              </a:rPr>
              <a:t>KASUS DIAN</a:t>
            </a:r>
          </a:p>
          <a:p>
            <a:pPr algn="ctr">
              <a:lnSpc>
                <a:spcPts val="9000"/>
              </a:lnSpc>
            </a:pPr>
            <a:endParaRPr lang="en-US" sz="9000" spc="630" dirty="0">
              <a:solidFill>
                <a:srgbClr val="254C9B"/>
              </a:solidFill>
              <a:latin typeface="Jua"/>
              <a:ea typeface="Jua"/>
              <a:cs typeface="Jua"/>
              <a:sym typeface="Jua"/>
            </a:endParaRPr>
          </a:p>
        </p:txBody>
      </p:sp>
      <p:sp>
        <p:nvSpPr>
          <p:cNvPr id="25" name="Freeform 25"/>
          <p:cNvSpPr/>
          <p:nvPr/>
        </p:nvSpPr>
        <p:spPr>
          <a:xfrm rot="-1255418">
            <a:off x="5694897" y="7033260"/>
            <a:ext cx="2147994" cy="2187772"/>
          </a:xfrm>
          <a:custGeom>
            <a:avLst/>
            <a:gdLst/>
            <a:ahLst/>
            <a:cxnLst/>
            <a:rect l="l" t="t" r="r" b="b"/>
            <a:pathLst>
              <a:path w="2147994" h="2187772">
                <a:moveTo>
                  <a:pt x="0" y="0"/>
                </a:moveTo>
                <a:lnTo>
                  <a:pt x="2147995" y="0"/>
                </a:lnTo>
                <a:lnTo>
                  <a:pt x="2147995" y="2187772"/>
                </a:lnTo>
                <a:lnTo>
                  <a:pt x="0" y="218777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6" name="Freeform 26"/>
          <p:cNvSpPr/>
          <p:nvPr/>
        </p:nvSpPr>
        <p:spPr>
          <a:xfrm rot="1709965" flipH="1">
            <a:off x="10587719" y="7057587"/>
            <a:ext cx="2190281" cy="2230842"/>
          </a:xfrm>
          <a:custGeom>
            <a:avLst/>
            <a:gdLst/>
            <a:ahLst/>
            <a:cxnLst/>
            <a:rect l="l" t="t" r="r" b="b"/>
            <a:pathLst>
              <a:path w="2190281" h="2230842">
                <a:moveTo>
                  <a:pt x="2190281" y="0"/>
                </a:moveTo>
                <a:lnTo>
                  <a:pt x="0" y="0"/>
                </a:lnTo>
                <a:lnTo>
                  <a:pt x="0" y="2230841"/>
                </a:lnTo>
                <a:lnTo>
                  <a:pt x="2190281" y="2230841"/>
                </a:lnTo>
                <a:lnTo>
                  <a:pt x="2190281"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7" name="Freeform 27"/>
          <p:cNvSpPr/>
          <p:nvPr/>
        </p:nvSpPr>
        <p:spPr>
          <a:xfrm>
            <a:off x="7226899" y="6177729"/>
            <a:ext cx="3990557" cy="3990557"/>
          </a:xfrm>
          <a:custGeom>
            <a:avLst/>
            <a:gdLst/>
            <a:ahLst/>
            <a:cxnLst/>
            <a:rect l="l" t="t" r="r" b="b"/>
            <a:pathLst>
              <a:path w="3990557" h="3990557">
                <a:moveTo>
                  <a:pt x="0" y="0"/>
                </a:moveTo>
                <a:lnTo>
                  <a:pt x="3990557" y="0"/>
                </a:lnTo>
                <a:lnTo>
                  <a:pt x="3990557" y="3990557"/>
                </a:lnTo>
                <a:lnTo>
                  <a:pt x="0" y="3990557"/>
                </a:lnTo>
                <a:lnTo>
                  <a:pt x="0" y="0"/>
                </a:lnTo>
                <a:close/>
              </a:path>
            </a:pathLst>
          </a:custGeom>
          <a:blipFill>
            <a:blip r:embed="rId11"/>
            <a:stretch>
              <a:fillRect/>
            </a:stretch>
          </a:blipFill>
        </p:spPr>
      </p:sp>
      <p:sp>
        <p:nvSpPr>
          <p:cNvPr id="28" name="TextBox 28"/>
          <p:cNvSpPr txBox="1"/>
          <p:nvPr/>
        </p:nvSpPr>
        <p:spPr>
          <a:xfrm>
            <a:off x="4529961" y="282288"/>
            <a:ext cx="10145431" cy="2970505"/>
          </a:xfrm>
          <a:prstGeom prst="rect">
            <a:avLst/>
          </a:prstGeom>
        </p:spPr>
        <p:txBody>
          <a:bodyPr lIns="0" tIns="0" rIns="0" bIns="0" rtlCol="0" anchor="t">
            <a:spAutoFit/>
          </a:bodyPr>
          <a:lstStyle/>
          <a:p>
            <a:pPr marL="516896" lvl="1" indent="-258448" algn="l">
              <a:lnSpc>
                <a:spcPts val="3351"/>
              </a:lnSpc>
              <a:buFont typeface="Arial"/>
              <a:buChar char="•"/>
            </a:pPr>
            <a:r>
              <a:rPr lang="en-US" sz="2394">
                <a:solidFill>
                  <a:srgbClr val="000000"/>
                </a:solidFill>
                <a:latin typeface="Jua"/>
                <a:ea typeface="Jua"/>
                <a:cs typeface="Jua"/>
                <a:sym typeface="Jua"/>
              </a:rPr>
              <a:t>Melakukan refleksi diri</a:t>
            </a:r>
          </a:p>
          <a:p>
            <a:pPr marL="516896" lvl="1" indent="-258448" algn="l">
              <a:lnSpc>
                <a:spcPts val="3351"/>
              </a:lnSpc>
              <a:buFont typeface="Arial"/>
              <a:buChar char="•"/>
            </a:pPr>
            <a:r>
              <a:rPr lang="en-US" sz="2394">
                <a:solidFill>
                  <a:srgbClr val="000000"/>
                </a:solidFill>
                <a:latin typeface="Jua"/>
                <a:ea typeface="Jua"/>
                <a:cs typeface="Jua"/>
                <a:sym typeface="Jua"/>
              </a:rPr>
              <a:t>Memberikan motivasi dan afirmasi positif </a:t>
            </a:r>
          </a:p>
          <a:p>
            <a:pPr marL="516896" lvl="1" indent="-258448" algn="l">
              <a:lnSpc>
                <a:spcPts val="3351"/>
              </a:lnSpc>
              <a:buFont typeface="Arial"/>
              <a:buChar char="•"/>
            </a:pPr>
            <a:r>
              <a:rPr lang="en-US" sz="2394">
                <a:solidFill>
                  <a:srgbClr val="000000"/>
                </a:solidFill>
                <a:latin typeface="Jua"/>
                <a:ea typeface="Jua"/>
                <a:cs typeface="Jua"/>
                <a:sym typeface="Jua"/>
              </a:rPr>
              <a:t>Memberikan umpan balik (feedback) </a:t>
            </a:r>
          </a:p>
          <a:p>
            <a:pPr marL="516896" lvl="1" indent="-258448" algn="l">
              <a:lnSpc>
                <a:spcPts val="3351"/>
              </a:lnSpc>
              <a:buFont typeface="Arial"/>
              <a:buChar char="•"/>
            </a:pPr>
            <a:r>
              <a:rPr lang="en-US" sz="2394">
                <a:solidFill>
                  <a:srgbClr val="000000"/>
                </a:solidFill>
                <a:latin typeface="Jua"/>
                <a:ea typeface="Jua"/>
                <a:cs typeface="Jua"/>
                <a:sym typeface="Jua"/>
              </a:rPr>
              <a:t> Memberikan pengertian kepada orang tua bahwa setiap siswa memiliki kemampuan yang berbeda, dan prestasi tidak hanya dilihat dari nilai akhir, namun juga perubahan dalam setiap proses yang dilakukan menjadi lebih baik.</a:t>
            </a:r>
          </a:p>
        </p:txBody>
      </p:sp>
      <p:sp>
        <p:nvSpPr>
          <p:cNvPr id="29" name="TextBox 29"/>
          <p:cNvSpPr txBox="1"/>
          <p:nvPr/>
        </p:nvSpPr>
        <p:spPr>
          <a:xfrm>
            <a:off x="575532" y="3900292"/>
            <a:ext cx="4517982" cy="5720272"/>
          </a:xfrm>
          <a:prstGeom prst="rect">
            <a:avLst/>
          </a:prstGeom>
        </p:spPr>
        <p:txBody>
          <a:bodyPr lIns="0" tIns="0" rIns="0" bIns="0" rtlCol="0" anchor="t">
            <a:spAutoFit/>
          </a:bodyPr>
          <a:lstStyle/>
          <a:p>
            <a:pPr marL="540127" lvl="1" indent="-270064" algn="l">
              <a:lnSpc>
                <a:spcPts val="3502"/>
              </a:lnSpc>
              <a:buFont typeface="Arial"/>
              <a:buChar char="•"/>
            </a:pPr>
            <a:r>
              <a:rPr lang="en-US" sz="2501">
                <a:solidFill>
                  <a:srgbClr val="000000"/>
                </a:solidFill>
                <a:latin typeface="Jua"/>
                <a:ea typeface="Jua"/>
                <a:cs typeface="Jua"/>
                <a:sym typeface="Jua"/>
              </a:rPr>
              <a:t>Guru memiliki empati dan emosional yang baik</a:t>
            </a:r>
          </a:p>
          <a:p>
            <a:pPr marL="540127" lvl="1" indent="-270064" algn="l">
              <a:lnSpc>
                <a:spcPts val="3502"/>
              </a:lnSpc>
              <a:buFont typeface="Arial"/>
              <a:buChar char="•"/>
            </a:pPr>
            <a:r>
              <a:rPr lang="en-US" sz="2501">
                <a:solidFill>
                  <a:srgbClr val="000000"/>
                </a:solidFill>
                <a:latin typeface="Jua"/>
                <a:ea typeface="Jua"/>
                <a:cs typeface="Jua"/>
                <a:sym typeface="Jua"/>
              </a:rPr>
              <a:t>Mampu membuat rancangan pembelajaran yang menarik.</a:t>
            </a:r>
          </a:p>
          <a:p>
            <a:pPr marL="540127" lvl="1" indent="-270064" algn="l">
              <a:lnSpc>
                <a:spcPts val="3502"/>
              </a:lnSpc>
              <a:buFont typeface="Arial"/>
              <a:buChar char="•"/>
            </a:pPr>
            <a:r>
              <a:rPr lang="en-US" sz="2501">
                <a:solidFill>
                  <a:srgbClr val="000000"/>
                </a:solidFill>
                <a:latin typeface="Jua"/>
                <a:ea typeface="Jua"/>
                <a:cs typeface="Jua"/>
                <a:sym typeface="Jua"/>
              </a:rPr>
              <a:t>Mampu mengelola kelas dengan  nyaman dan suportif.</a:t>
            </a:r>
          </a:p>
          <a:p>
            <a:pPr marL="540127" lvl="1" indent="-270064" algn="l">
              <a:lnSpc>
                <a:spcPts val="3502"/>
              </a:lnSpc>
              <a:buFont typeface="Arial"/>
              <a:buChar char="•"/>
            </a:pPr>
            <a:r>
              <a:rPr lang="en-US" sz="2501">
                <a:solidFill>
                  <a:srgbClr val="000000"/>
                </a:solidFill>
                <a:latin typeface="Jua"/>
                <a:ea typeface="Jua"/>
                <a:cs typeface="Jua"/>
                <a:sym typeface="Jua"/>
              </a:rPr>
              <a:t>Mampu memberikan umpan balik untuk membangun  kepercayaan diri murid</a:t>
            </a:r>
          </a:p>
          <a:p>
            <a:pPr marL="540127" lvl="1" indent="-270064" algn="l">
              <a:lnSpc>
                <a:spcPts val="3502"/>
              </a:lnSpc>
              <a:buFont typeface="Arial"/>
              <a:buChar char="•"/>
            </a:pPr>
            <a:r>
              <a:rPr lang="en-US" sz="2501">
                <a:solidFill>
                  <a:srgbClr val="000000"/>
                </a:solidFill>
                <a:latin typeface="Jua"/>
                <a:ea typeface="Jua"/>
                <a:cs typeface="Jua"/>
                <a:sym typeface="Jua"/>
              </a:rPr>
              <a:t>Memberi afirmasi</a:t>
            </a:r>
          </a:p>
          <a:p>
            <a:pPr marL="540127" lvl="1" indent="-270064" algn="l">
              <a:lnSpc>
                <a:spcPts val="3502"/>
              </a:lnSpc>
              <a:buFont typeface="Arial"/>
              <a:buChar char="•"/>
            </a:pPr>
            <a:r>
              <a:rPr lang="en-US" sz="2501">
                <a:solidFill>
                  <a:srgbClr val="000000"/>
                </a:solidFill>
                <a:latin typeface="Jua"/>
                <a:ea typeface="Jua"/>
                <a:cs typeface="Jua"/>
                <a:sym typeface="Jua"/>
              </a:rPr>
              <a:t>Sebagai fasilitator dan motivator</a:t>
            </a:r>
          </a:p>
        </p:txBody>
      </p:sp>
      <p:sp>
        <p:nvSpPr>
          <p:cNvPr id="30" name="Freeform 30"/>
          <p:cNvSpPr/>
          <p:nvPr/>
        </p:nvSpPr>
        <p:spPr>
          <a:xfrm rot="392175">
            <a:off x="1653272" y="283139"/>
            <a:ext cx="3131785" cy="985089"/>
          </a:xfrm>
          <a:custGeom>
            <a:avLst/>
            <a:gdLst/>
            <a:ahLst/>
            <a:cxnLst/>
            <a:rect l="l" t="t" r="r" b="b"/>
            <a:pathLst>
              <a:path w="3131785" h="985089">
                <a:moveTo>
                  <a:pt x="0" y="0"/>
                </a:moveTo>
                <a:lnTo>
                  <a:pt x="3131785" y="0"/>
                </a:lnTo>
                <a:lnTo>
                  <a:pt x="3131785" y="985088"/>
                </a:lnTo>
                <a:lnTo>
                  <a:pt x="0" y="985088"/>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sp>
      <p:sp>
        <p:nvSpPr>
          <p:cNvPr id="31" name="TextBox 31"/>
          <p:cNvSpPr txBox="1"/>
          <p:nvPr/>
        </p:nvSpPr>
        <p:spPr>
          <a:xfrm rot="364072">
            <a:off x="1252600" y="466929"/>
            <a:ext cx="3631702" cy="606114"/>
          </a:xfrm>
          <a:prstGeom prst="rect">
            <a:avLst/>
          </a:prstGeom>
        </p:spPr>
        <p:txBody>
          <a:bodyPr lIns="0" tIns="0" rIns="0" bIns="0" rtlCol="0" anchor="t">
            <a:spAutoFit/>
          </a:bodyPr>
          <a:lstStyle/>
          <a:p>
            <a:pPr marL="0" lvl="0" indent="0" algn="ctr">
              <a:lnSpc>
                <a:spcPts val="3818"/>
              </a:lnSpc>
              <a:spcBef>
                <a:spcPct val="0"/>
              </a:spcBef>
            </a:pPr>
            <a:r>
              <a:rPr lang="en-US" sz="4018">
                <a:solidFill>
                  <a:srgbClr val="292929"/>
                </a:solidFill>
                <a:latin typeface="Jua"/>
                <a:ea typeface="Jua"/>
                <a:cs typeface="Jua"/>
                <a:sym typeface="Jua"/>
              </a:rPr>
              <a:t>ACTION</a:t>
            </a:r>
          </a:p>
        </p:txBody>
      </p:sp>
      <p:sp>
        <p:nvSpPr>
          <p:cNvPr id="32" name="Freeform 32"/>
          <p:cNvSpPr/>
          <p:nvPr/>
        </p:nvSpPr>
        <p:spPr>
          <a:xfrm rot="-75602">
            <a:off x="14686921" y="3297909"/>
            <a:ext cx="3477671" cy="1086772"/>
          </a:xfrm>
          <a:custGeom>
            <a:avLst/>
            <a:gdLst/>
            <a:ahLst/>
            <a:cxnLst/>
            <a:rect l="l" t="t" r="r" b="b"/>
            <a:pathLst>
              <a:path w="3477671" h="1086772">
                <a:moveTo>
                  <a:pt x="0" y="0"/>
                </a:moveTo>
                <a:lnTo>
                  <a:pt x="3477671" y="0"/>
                </a:lnTo>
                <a:lnTo>
                  <a:pt x="3477671" y="1086772"/>
                </a:lnTo>
                <a:lnTo>
                  <a:pt x="0" y="1086772"/>
                </a:lnTo>
                <a:lnTo>
                  <a:pt x="0" y="0"/>
                </a:lnTo>
                <a:close/>
              </a:path>
            </a:pathLst>
          </a:custGeom>
          <a:blipFill>
            <a:blip r:embed="rId14">
              <a:extLst>
                <a:ext uri="{96DAC541-7B7A-43D3-8B79-37D633B846F1}">
                  <asvg:svgBlip xmlns:asvg="http://schemas.microsoft.com/office/drawing/2016/SVG/main" r:embed="rId15"/>
                </a:ext>
              </a:extLst>
            </a:blip>
            <a:stretch>
              <a:fillRect/>
            </a:stretch>
          </a:blipFill>
          <a:ln cap="sq">
            <a:noFill/>
            <a:prstDash val="solid"/>
            <a:miter/>
          </a:ln>
        </p:spPr>
      </p:sp>
      <p:sp>
        <p:nvSpPr>
          <p:cNvPr id="33" name="Freeform 33"/>
          <p:cNvSpPr/>
          <p:nvPr/>
        </p:nvSpPr>
        <p:spPr>
          <a:xfrm rot="71568">
            <a:off x="1927799" y="3056759"/>
            <a:ext cx="2758105" cy="867550"/>
          </a:xfrm>
          <a:custGeom>
            <a:avLst/>
            <a:gdLst/>
            <a:ahLst/>
            <a:cxnLst/>
            <a:rect l="l" t="t" r="r" b="b"/>
            <a:pathLst>
              <a:path w="2758105" h="867550">
                <a:moveTo>
                  <a:pt x="0" y="0"/>
                </a:moveTo>
                <a:lnTo>
                  <a:pt x="2758106" y="0"/>
                </a:lnTo>
                <a:lnTo>
                  <a:pt x="2758106" y="867549"/>
                </a:lnTo>
                <a:lnTo>
                  <a:pt x="0" y="867549"/>
                </a:lnTo>
                <a:lnTo>
                  <a:pt x="0" y="0"/>
                </a:lnTo>
                <a:close/>
              </a:path>
            </a:pathLst>
          </a:custGeom>
          <a:blipFill>
            <a:blip r:embed="rId16">
              <a:extLst>
                <a:ext uri="{96DAC541-7B7A-43D3-8B79-37D633B846F1}">
                  <asvg:svgBlip xmlns:asvg="http://schemas.microsoft.com/office/drawing/2016/SVG/main" r:embed="rId17"/>
                </a:ext>
              </a:extLst>
            </a:blip>
            <a:stretch>
              <a:fillRect/>
            </a:stretch>
          </a:blipFill>
          <a:ln cap="sq">
            <a:noFill/>
            <a:prstDash val="solid"/>
            <a:miter/>
          </a:ln>
        </p:spPr>
      </p:sp>
      <p:sp>
        <p:nvSpPr>
          <p:cNvPr id="34" name="TextBox 34"/>
          <p:cNvSpPr txBox="1"/>
          <p:nvPr/>
        </p:nvSpPr>
        <p:spPr>
          <a:xfrm rot="211689">
            <a:off x="2108691" y="3215842"/>
            <a:ext cx="2221533" cy="517774"/>
          </a:xfrm>
          <a:prstGeom prst="rect">
            <a:avLst/>
          </a:prstGeom>
        </p:spPr>
        <p:txBody>
          <a:bodyPr lIns="0" tIns="0" rIns="0" bIns="0" rtlCol="0" anchor="t">
            <a:spAutoFit/>
          </a:bodyPr>
          <a:lstStyle/>
          <a:p>
            <a:pPr marL="0" lvl="0" indent="0" algn="ctr">
              <a:lnSpc>
                <a:spcPts val="3201"/>
              </a:lnSpc>
              <a:spcBef>
                <a:spcPct val="0"/>
              </a:spcBef>
            </a:pPr>
            <a:r>
              <a:rPr lang="en-US" sz="3370">
                <a:solidFill>
                  <a:srgbClr val="292929"/>
                </a:solidFill>
                <a:latin typeface="Jua"/>
                <a:ea typeface="Jua"/>
                <a:cs typeface="Jua"/>
                <a:sym typeface="Jua"/>
              </a:rPr>
              <a:t>SKILLSET</a:t>
            </a:r>
          </a:p>
        </p:txBody>
      </p:sp>
      <p:sp>
        <p:nvSpPr>
          <p:cNvPr id="35" name="TextBox 35"/>
          <p:cNvSpPr txBox="1"/>
          <p:nvPr/>
        </p:nvSpPr>
        <p:spPr>
          <a:xfrm rot="211689">
            <a:off x="-1828294" y="7426716"/>
            <a:ext cx="2109423" cy="482600"/>
          </a:xfrm>
          <a:prstGeom prst="rect">
            <a:avLst/>
          </a:prstGeom>
        </p:spPr>
        <p:txBody>
          <a:bodyPr lIns="0" tIns="0" rIns="0" bIns="0" rtlCol="0" anchor="t">
            <a:spAutoFit/>
          </a:bodyPr>
          <a:lstStyle/>
          <a:p>
            <a:pPr marL="0" lvl="0" indent="0" algn="ctr">
              <a:lnSpc>
                <a:spcPts val="3040"/>
              </a:lnSpc>
              <a:spcBef>
                <a:spcPct val="0"/>
              </a:spcBef>
            </a:pPr>
            <a:r>
              <a:rPr lang="en-US" sz="3200">
                <a:solidFill>
                  <a:srgbClr val="292929"/>
                </a:solidFill>
                <a:latin typeface="Jua"/>
                <a:ea typeface="Jua"/>
                <a:cs typeface="Jua"/>
                <a:sym typeface="Jua"/>
              </a:rPr>
              <a:t>Strategies</a:t>
            </a:r>
          </a:p>
        </p:txBody>
      </p:sp>
      <p:sp>
        <p:nvSpPr>
          <p:cNvPr id="36" name="TextBox 36"/>
          <p:cNvSpPr txBox="1"/>
          <p:nvPr/>
        </p:nvSpPr>
        <p:spPr>
          <a:xfrm>
            <a:off x="15041594" y="3524622"/>
            <a:ext cx="2768325" cy="633346"/>
          </a:xfrm>
          <a:prstGeom prst="rect">
            <a:avLst/>
          </a:prstGeom>
        </p:spPr>
        <p:txBody>
          <a:bodyPr lIns="0" tIns="0" rIns="0" bIns="0" rtlCol="0" anchor="t">
            <a:spAutoFit/>
          </a:bodyPr>
          <a:lstStyle/>
          <a:p>
            <a:pPr marL="0" lvl="0" indent="0" algn="ctr">
              <a:lnSpc>
                <a:spcPts val="3989"/>
              </a:lnSpc>
              <a:spcBef>
                <a:spcPct val="0"/>
              </a:spcBef>
            </a:pPr>
            <a:r>
              <a:rPr lang="en-US" sz="4199">
                <a:solidFill>
                  <a:srgbClr val="292929"/>
                </a:solidFill>
                <a:latin typeface="Jua"/>
                <a:ea typeface="Jua"/>
                <a:cs typeface="Jua"/>
                <a:sym typeface="Jua"/>
              </a:rPr>
              <a:t>TOOLSET</a:t>
            </a:r>
          </a:p>
        </p:txBody>
      </p:sp>
      <p:sp>
        <p:nvSpPr>
          <p:cNvPr id="37" name="Freeform 37"/>
          <p:cNvSpPr/>
          <p:nvPr/>
        </p:nvSpPr>
        <p:spPr>
          <a:xfrm>
            <a:off x="14769928" y="108091"/>
            <a:ext cx="3311658" cy="627613"/>
          </a:xfrm>
          <a:custGeom>
            <a:avLst/>
            <a:gdLst/>
            <a:ahLst/>
            <a:cxnLst/>
            <a:rect l="l" t="t" r="r" b="b"/>
            <a:pathLst>
              <a:path w="3311658" h="627613">
                <a:moveTo>
                  <a:pt x="0" y="0"/>
                </a:moveTo>
                <a:lnTo>
                  <a:pt x="3311657" y="0"/>
                </a:lnTo>
                <a:lnTo>
                  <a:pt x="3311657" y="627613"/>
                </a:lnTo>
                <a:lnTo>
                  <a:pt x="0" y="627613"/>
                </a:lnTo>
                <a:lnTo>
                  <a:pt x="0" y="0"/>
                </a:lnTo>
                <a:close/>
              </a:path>
            </a:pathLst>
          </a:custGeom>
          <a:blipFill>
            <a:blip r:embed="rId18"/>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flipH="1">
            <a:off x="16969520" y="7497187"/>
            <a:ext cx="3991176" cy="3364229"/>
          </a:xfrm>
          <a:custGeom>
            <a:avLst/>
            <a:gdLst/>
            <a:ahLst/>
            <a:cxnLst/>
            <a:rect l="l" t="t" r="r" b="b"/>
            <a:pathLst>
              <a:path w="3991176" h="3364229">
                <a:moveTo>
                  <a:pt x="3991175" y="0"/>
                </a:moveTo>
                <a:lnTo>
                  <a:pt x="0" y="0"/>
                </a:lnTo>
                <a:lnTo>
                  <a:pt x="0" y="3364228"/>
                </a:lnTo>
                <a:lnTo>
                  <a:pt x="3991175" y="3364228"/>
                </a:lnTo>
                <a:lnTo>
                  <a:pt x="3991175" y="0"/>
                </a:lnTo>
                <a:close/>
              </a:path>
            </a:pathLst>
          </a:custGeom>
          <a:blipFill>
            <a:blip r:embed="rId3"/>
            <a:stretch>
              <a:fillRect/>
            </a:stretch>
          </a:blipFill>
        </p:spPr>
      </p:sp>
      <p:sp>
        <p:nvSpPr>
          <p:cNvPr id="4" name="Freeform 4"/>
          <p:cNvSpPr/>
          <p:nvPr/>
        </p:nvSpPr>
        <p:spPr>
          <a:xfrm>
            <a:off x="-721600" y="-2691359"/>
            <a:ext cx="19738690" cy="3954651"/>
          </a:xfrm>
          <a:custGeom>
            <a:avLst/>
            <a:gdLst/>
            <a:ahLst/>
            <a:cxnLst/>
            <a:rect l="l" t="t" r="r" b="b"/>
            <a:pathLst>
              <a:path w="19738690" h="3954651">
                <a:moveTo>
                  <a:pt x="0" y="0"/>
                </a:moveTo>
                <a:lnTo>
                  <a:pt x="19738691" y="0"/>
                </a:lnTo>
                <a:lnTo>
                  <a:pt x="19738691" y="3954651"/>
                </a:lnTo>
                <a:lnTo>
                  <a:pt x="0" y="3954651"/>
                </a:lnTo>
                <a:lnTo>
                  <a:pt x="0" y="0"/>
                </a:lnTo>
                <a:close/>
              </a:path>
            </a:pathLst>
          </a:custGeom>
          <a:blipFill>
            <a:blip r:embed="rId4"/>
            <a:stretch>
              <a:fillRect t="-74885" b="-74885"/>
            </a:stretch>
          </a:blipFill>
        </p:spPr>
      </p:sp>
      <p:sp>
        <p:nvSpPr>
          <p:cNvPr id="5" name="Freeform 5"/>
          <p:cNvSpPr/>
          <p:nvPr/>
        </p:nvSpPr>
        <p:spPr>
          <a:xfrm>
            <a:off x="649166" y="9446527"/>
            <a:ext cx="2330904" cy="2197269"/>
          </a:xfrm>
          <a:custGeom>
            <a:avLst/>
            <a:gdLst/>
            <a:ahLst/>
            <a:cxnLst/>
            <a:rect l="l" t="t" r="r" b="b"/>
            <a:pathLst>
              <a:path w="2330904" h="2197269">
                <a:moveTo>
                  <a:pt x="0" y="0"/>
                </a:moveTo>
                <a:lnTo>
                  <a:pt x="2330904" y="0"/>
                </a:lnTo>
                <a:lnTo>
                  <a:pt x="2330904" y="2197269"/>
                </a:lnTo>
                <a:lnTo>
                  <a:pt x="0" y="2197269"/>
                </a:lnTo>
                <a:lnTo>
                  <a:pt x="0" y="0"/>
                </a:lnTo>
                <a:close/>
              </a:path>
            </a:pathLst>
          </a:custGeom>
          <a:blipFill>
            <a:blip r:embed="rId5"/>
            <a:stretch>
              <a:fillRect/>
            </a:stretch>
          </a:blipFill>
        </p:spPr>
      </p:sp>
      <p:sp>
        <p:nvSpPr>
          <p:cNvPr id="6" name="Freeform 6"/>
          <p:cNvSpPr/>
          <p:nvPr/>
        </p:nvSpPr>
        <p:spPr>
          <a:xfrm>
            <a:off x="-2672695" y="7497187"/>
            <a:ext cx="3991176" cy="3364229"/>
          </a:xfrm>
          <a:custGeom>
            <a:avLst/>
            <a:gdLst/>
            <a:ahLst/>
            <a:cxnLst/>
            <a:rect l="l" t="t" r="r" b="b"/>
            <a:pathLst>
              <a:path w="3991176" h="3364229">
                <a:moveTo>
                  <a:pt x="0" y="0"/>
                </a:moveTo>
                <a:lnTo>
                  <a:pt x="3991175" y="0"/>
                </a:lnTo>
                <a:lnTo>
                  <a:pt x="3991175" y="3364228"/>
                </a:lnTo>
                <a:lnTo>
                  <a:pt x="0" y="3364228"/>
                </a:lnTo>
                <a:lnTo>
                  <a:pt x="0" y="0"/>
                </a:lnTo>
                <a:close/>
              </a:path>
            </a:pathLst>
          </a:custGeom>
          <a:blipFill>
            <a:blip r:embed="rId3"/>
            <a:stretch>
              <a:fillRect/>
            </a:stretch>
          </a:blipFill>
        </p:spPr>
      </p:sp>
      <p:sp>
        <p:nvSpPr>
          <p:cNvPr id="7" name="Freeform 7"/>
          <p:cNvSpPr/>
          <p:nvPr/>
        </p:nvSpPr>
        <p:spPr>
          <a:xfrm flipH="1">
            <a:off x="15260305" y="9446527"/>
            <a:ext cx="2330904" cy="2197269"/>
          </a:xfrm>
          <a:custGeom>
            <a:avLst/>
            <a:gdLst/>
            <a:ahLst/>
            <a:cxnLst/>
            <a:rect l="l" t="t" r="r" b="b"/>
            <a:pathLst>
              <a:path w="2330904" h="2197269">
                <a:moveTo>
                  <a:pt x="2330904" y="0"/>
                </a:moveTo>
                <a:lnTo>
                  <a:pt x="0" y="0"/>
                </a:lnTo>
                <a:lnTo>
                  <a:pt x="0" y="2197269"/>
                </a:lnTo>
                <a:lnTo>
                  <a:pt x="2330904" y="2197269"/>
                </a:lnTo>
                <a:lnTo>
                  <a:pt x="2330904" y="0"/>
                </a:lnTo>
                <a:close/>
              </a:path>
            </a:pathLst>
          </a:custGeom>
          <a:blipFill>
            <a:blip r:embed="rId5"/>
            <a:stretch>
              <a:fillRect/>
            </a:stretch>
          </a:blipFill>
        </p:spPr>
      </p:sp>
      <p:sp>
        <p:nvSpPr>
          <p:cNvPr id="8" name="Freeform 8"/>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6"/>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362</Words>
  <Application>Microsoft Office PowerPoint</Application>
  <PresentationFormat>Custom</PresentationFormat>
  <Paragraphs>54</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Jua</vt:lpstr>
      <vt:lpstr>Calibri</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topik 1. growth mindset</dc:title>
  <dc:creator>User</dc:creator>
  <cp:lastModifiedBy>HP 14 DK1524AU</cp:lastModifiedBy>
  <cp:revision>3</cp:revision>
  <dcterms:created xsi:type="dcterms:W3CDTF">2006-08-16T00:00:00Z</dcterms:created>
  <dcterms:modified xsi:type="dcterms:W3CDTF">2026-02-24T15:33:32Z</dcterms:modified>
  <dc:identifier>DAHBZ0lKG_s</dc:identifier>
</cp:coreProperties>
</file>